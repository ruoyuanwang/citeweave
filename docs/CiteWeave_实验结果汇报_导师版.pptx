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22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UCR (%)</c:v>
          </c:tx>
          <c:spPr>
            <a:solidFill>
              <a:srgbClr val="3D8D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0B0D10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CiteWeave Full</c:v>
              </c:pt>
              <c:pt idx="1">
                <c:v>One-shot</c:v>
              </c:pt>
            </c:strLit>
          </c:cat>
          <c:val>
            <c:numLit>
              <c:formatCode>General</c:formatCode>
              <c:ptCount val="2"/>
              <c:pt idx="0">
                <c:v>1.7</c:v>
              </c:pt>
              <c:pt idx="1">
                <c:v>8.3000000000000007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784-43DF-B22E-124303BD8A2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DEDED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审核请求率 (%)</c:v>
          </c:tx>
          <c:spPr>
            <a:solidFill>
              <a:srgbClr val="3D8D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0B0D10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Baseline</c:v>
              </c:pt>
              <c:pt idx="1">
                <c:v>Always</c:v>
              </c:pt>
              <c:pt idx="2">
                <c:v>Static</c:v>
              </c:pt>
              <c:pt idx="3">
                <c:v>Adaptive</c:v>
              </c:pt>
            </c:strLit>
          </c:cat>
          <c:val>
            <c:numLit>
              <c:formatCode>General</c:formatCode>
              <c:ptCount val="4"/>
              <c:pt idx="0">
                <c:v>0</c:v>
              </c:pt>
              <c:pt idx="1">
                <c:v>100</c:v>
              </c:pt>
              <c:pt idx="2">
                <c:v>66.7</c:v>
              </c:pt>
              <c:pt idx="3">
                <c:v>55.6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76E-45B8-86A0-D5AE8D34B24F}"/>
            </c:ext>
          </c:extLst>
        </c:ser>
        <c:ser>
          <c:idx val="1"/>
          <c:order val="1"/>
          <c:tx>
            <c:v>最终质量通过率 (%)</c:v>
          </c:tx>
          <c:spPr>
            <a:solidFill>
              <a:srgbClr val="6DCBF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0B0D10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Baseline</c:v>
              </c:pt>
              <c:pt idx="1">
                <c:v>Always</c:v>
              </c:pt>
              <c:pt idx="2">
                <c:v>Static</c:v>
              </c:pt>
              <c:pt idx="3">
                <c:v>Adaptive</c:v>
              </c:pt>
            </c:strLit>
          </c:cat>
          <c:val>
            <c:numLit>
              <c:formatCode>General</c:formatCode>
              <c:ptCount val="4"/>
              <c:pt idx="0">
                <c:v>75</c:v>
              </c:pt>
              <c:pt idx="1">
                <c:v>77.8</c:v>
              </c:pt>
              <c:pt idx="2">
                <c:v>77.8</c:v>
              </c:pt>
              <c:pt idx="3">
                <c:v>77.8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A76E-45B8-86A0-D5AE8D34B24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w="9525">
              <a:solidFill>
                <a:srgbClr val="EDEDED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  <a:ln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050">
              <a:solidFill>
                <a:srgbClr val="586174"/>
              </a:solidFill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开场先说明：本次不是展示单个案例，而是完整端到端可靠性评估。</a:t>
            </a:r>
          </a:p>
          <a:p>
            <a:endParaRPr/>
          </a:p>
          <a:p>
            <a:r>
              <a:t>[Sources]</a:t>
            </a:r>
          </a:p>
          <a:p>
            <a:r>
              <a:t>- D:/project/bibagent/experiments/final_report/end_to_end_report.md</a:t>
            </a:r>
          </a:p>
          <a:p>
            <a:r>
              <a:t>- D:/project/bibagent/experiments/formal_workspaces/machine_learning_climate_change_2008_2022/figures/network_keyword_cooccurrence.png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这页只建立全局地图：三组实验不是孤立的，而是从生成、grounding 到人机协同逐级验证。</a:t>
            </a:r>
          </a:p>
          <a:p>
            <a:endParaRPr/>
          </a:p>
          <a:p>
            <a:r>
              <a:t>[Sources]</a:t>
            </a:r>
          </a:p>
          <a:p>
            <a:r>
              <a:t>- D:/project/bibagent/experiments/formal_completion_audit_current.json</a:t>
            </a:r>
          </a:p>
          <a:p>
            <a:r>
              <a:t>- D:/project/bibagent/experiments/final_report/end_to_end_report.md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强调这里的可信度来自配置冻结和评估隔离，而不只是模型表现。</a:t>
            </a:r>
          </a:p>
          <a:p>
            <a:endParaRPr/>
          </a:p>
          <a:p>
            <a:r>
              <a:t>[Sources]</a:t>
            </a:r>
          </a:p>
          <a:p>
            <a:r>
              <a:t>- D:/project/bibagent/experiments/formal_datasets_openalex_title_abstract.yml</a:t>
            </a:r>
          </a:p>
          <a:p>
            <a:r>
              <a:t>- D:/project/bibagent/experiments/formal_reports/machine_learning_climate_change_2008_2022/citeweave_full/run_manifest.json</a:t>
            </a:r>
          </a:p>
          <a:p>
            <a:r>
              <a:t>- D:/project/bibagent/experiments/formal_runs/machine_learning_climate_change_2008_2022/formal_v2_nonthinking_20260806/graph_rag/run_manifest.json</a:t>
            </a:r>
          </a:p>
          <a:p>
            <a:r>
              <a:t>- D:/project/bibagent/experiments/judge_calibration_freeze.json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Full 与 One-shot 的可比性来自证据完全相同；人类论文比较只回答输出质量是否接近真实研究。</a:t>
            </a:r>
          </a:p>
          <a:p>
            <a:endParaRPr/>
          </a:p>
          <a:p>
            <a:r>
              <a:t>[Sources]</a:t>
            </a:r>
          </a:p>
          <a:p>
            <a:r>
              <a:t>- D:/project/bibagent/experiments/final_report/end_to_end_report.md</a:t>
            </a:r>
          </a:p>
          <a:p>
            <a:r>
              <a:t>- D:/project/bibagent/experiments/judge_calibration_freeze.json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主结果是 Full 相对 One-shot 的 UCR 明显下降。对人类参考时，要把事实支持度和完整度拆开讲。</a:t>
            </a:r>
          </a:p>
          <a:p>
            <a:endParaRPr/>
          </a:p>
          <a:p>
            <a:r>
              <a:t>[Sources]</a:t>
            </a:r>
          </a:p>
          <a:p>
            <a:r>
              <a:t>- D:/project/bibagent/experiments/formal_statistics/formal_statistics.json</a:t>
            </a:r>
          </a:p>
          <a:p>
            <a:r>
              <a:t>- D:/project/bibagent/experiments/formal_statistics/formal_results.md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强调公平性：三个文本条件模型与问题相同，只有证据上下文不同。Figure/VLM 只是跨模型扩展。</a:t>
            </a:r>
          </a:p>
          <a:p>
            <a:endParaRPr/>
          </a:p>
          <a:p>
            <a:r>
              <a:t>[Sources]</a:t>
            </a:r>
          </a:p>
          <a:p>
            <a:r>
              <a:t>- D:/project/bibagent/experiments/formal_runs/machine_learning_climate_change_2008_2022/formal_v2_nonthinking_20260806/graph_rag/run_manifest.json</a:t>
            </a:r>
          </a:p>
          <a:p>
            <a:r>
              <a:t>- D:/project/bibagent/experiments/BENCHMARK.md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这里要主动保留负结果：Graph RAG 没有优于 Flat；即便对 No RAG 效果巨大，多重校正后也未显著。</a:t>
            </a:r>
          </a:p>
          <a:p>
            <a:endParaRPr/>
          </a:p>
          <a:p>
            <a:r>
              <a:t>[Sources]</a:t>
            </a:r>
          </a:p>
          <a:p>
            <a:r>
              <a:t>- D:/project/bibagent/experiments/formal_statistics/formal_statistics.json</a:t>
            </a:r>
          </a:p>
          <a:p>
            <a:r>
              <a:t>- D:/project/bibagent/experiments/formal_statistics/graph_holm.csv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把‘没观察到错误’和‘证明足够安全’严格分开。当前最需要的是扩大自动放行审计样本。</a:t>
            </a:r>
          </a:p>
          <a:p>
            <a:endParaRPr/>
          </a:p>
          <a:p>
            <a:r>
              <a:t>[Sources]</a:t>
            </a:r>
          </a:p>
          <a:p>
            <a:r>
              <a:t>- D:/project/bibagent/experiments/formal_statistics/formal_statistics.json</a:t>
            </a:r>
          </a:p>
          <a:p>
            <a:r>
              <a:t>- D:/project/bibagent/experiments/human_proxy_protocol.yml</a:t>
            </a:r>
          </a:p>
          <a:p>
            <a:r>
              <a:t>- D:/project/bibagent/experiments/BENCHMARK.md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用四句话收束证据链，并把每个发现落到一个可执行含义。</a:t>
            </a:r>
          </a:p>
          <a:p>
            <a:endParaRPr/>
          </a:p>
          <a:p>
            <a:r>
              <a:t>[Sources]</a:t>
            </a:r>
          </a:p>
          <a:p>
            <a:r>
              <a:t>- D:/project/bibagent/experiments/formal_statistics/formal_results.md</a:t>
            </a:r>
          </a:p>
          <a:p>
            <a:r>
              <a:t>- D:/project/bibagent/experiments/final_report/end_to_end_report.md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主动讲清边界有助于导师判断论文主张的强度，并避免后续审稿风险。</a:t>
            </a:r>
          </a:p>
          <a:p>
            <a:endParaRPr/>
          </a:p>
          <a:p>
            <a:r>
              <a:t>[Sources]</a:t>
            </a:r>
          </a:p>
          <a:p>
            <a:r>
              <a:t>- D:/project/bibagent/experiments/BENCHMARK.md</a:t>
            </a:r>
          </a:p>
          <a:p>
            <a:r>
              <a:t>- D:/project/bibagent/docs/EXPERIMENT_RESULTS_SUMMARY_ZH.md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结尾不是泛泛而谈，而是请导师确认优先级。建议先补证据强度，再做功能扩展。</a:t>
            </a:r>
          </a:p>
          <a:p>
            <a:endParaRPr/>
          </a:p>
          <a:p>
            <a:r>
              <a:t>[Sources]</a:t>
            </a:r>
          </a:p>
          <a:p>
            <a:r>
              <a:t>- D:/project/bibagent/experiments/BENCHMARK.md</a:t>
            </a:r>
          </a:p>
          <a:p>
            <a:r>
              <a:t>- D:/project/bibagent/docs/EXPERIMENT_ALIGNMENT_GUIDE_ZH.md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">
            <a:extLst>
              <a:ext uri="{FF2B5EF4-FFF2-40B4-BE49-F238E27FC236}">
                <a16:creationId xmlns:a16="http://schemas.microsoft.com/office/drawing/2014/main" id="{AC5F7774-0BDB-42B5-9DA6-58CDFF36F5AF}"/>
              </a:ext>
            </a:extLst>
          </p:cNvPr>
          <p:cNvSpPr>
            <a:spLocks noGrp="1"/>
          </p:cNvSpPr>
          <p:nvPr/>
        </p:nvSpPr>
        <p:spPr>
          <a:xfrm>
            <a:off x="552450" y="4191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CITEWEAVE</a:t>
            </a:r>
          </a:p>
        </p:txBody>
      </p:sp>
      <p:sp>
        <p:nvSpPr>
          <p:cNvPr id="2" name="deck-title">
            <a:extLst>
              <a:ext uri="{FF2B5EF4-FFF2-40B4-BE49-F238E27FC236}">
                <a16:creationId xmlns:a16="http://schemas.microsoft.com/office/drawing/2014/main" id="{2FB8B08A-3977-41EF-8D63-284B75321E99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5429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75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证据约束的自动文献计量</a:t>
            </a:r>
          </a:p>
          <a:p>
            <a:pPr algn="l">
              <a:defRPr sz="3675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实验结果汇报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F0BBD32E-C835-46FE-A897-B84906621B73}"/>
              </a:ext>
            </a:extLst>
          </p:cNvPr>
          <p:cNvSpPr>
            <a:spLocks noGrp="1"/>
          </p:cNvSpPr>
          <p:nvPr/>
        </p:nvSpPr>
        <p:spPr>
          <a:xfrm>
            <a:off x="552450" y="3448050"/>
            <a:ext cx="1714500" cy="571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26FDB188-8C85-4B8C-9B20-5B6BFA9EAC50}"/>
              </a:ext>
            </a:extLst>
          </p:cNvPr>
          <p:cNvSpPr>
            <a:spLocks noGrp="1"/>
          </p:cNvSpPr>
          <p:nvPr/>
        </p:nvSpPr>
        <p:spPr>
          <a:xfrm>
            <a:off x="552450" y="3752850"/>
            <a:ext cx="4953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从报告生成、图证据问答到自适应审核：</a:t>
            </a:r>
          </a:p>
          <a:p>
            <a:pPr algn="l">
              <a:defRPr sz="18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验证可靠性，也保留负结果与边界。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9A031249-D0DD-443E-B87A-292905625A26}"/>
              </a:ext>
            </a:extLst>
          </p:cNvPr>
          <p:cNvSpPr>
            <a:spLocks noGrp="1"/>
          </p:cNvSpPr>
          <p:nvPr/>
        </p:nvSpPr>
        <p:spPr>
          <a:xfrm>
            <a:off x="552450" y="59245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endParaRPr sz="1275" b="0" dirty="0">
              <a:solidFill>
                <a:srgbClr val="586174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53150" y="1293532"/>
            <a:ext cx="5505450" cy="3870886"/>
          </a:xfrm>
          <a:prstGeom prst="rect">
            <a:avLst/>
          </a:prstGeom>
        </p:spPr>
      </p:pic>
      <p:sp>
        <p:nvSpPr>
          <p:cNvPr id="7" name="text">
            <a:extLst>
              <a:ext uri="{FF2B5EF4-FFF2-40B4-BE49-F238E27FC236}">
                <a16:creationId xmlns:a16="http://schemas.microsoft.com/office/drawing/2014/main" id="{F5852408-491E-44F8-BA46-CB738202187D}"/>
              </a:ext>
            </a:extLst>
          </p:cNvPr>
          <p:cNvSpPr>
            <a:spLocks noGrp="1"/>
          </p:cNvSpPr>
          <p:nvPr/>
        </p:nvSpPr>
        <p:spPr>
          <a:xfrm>
            <a:off x="11191875" y="64579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33978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kicker">
            <a:extLst>
              <a:ext uri="{FF2B5EF4-FFF2-40B4-BE49-F238E27FC236}">
                <a16:creationId xmlns:a16="http://schemas.microsoft.com/office/drawing/2014/main" id="{DBC00E3A-632E-4354-A661-5699C5BE1AEC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CITEWEAVE · FORMAL EXPERIMENTS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F46D4D64-74B1-44F6-ABE1-BDE4B5CA12B7}"/>
              </a:ext>
            </a:extLst>
          </p:cNvPr>
          <p:cNvSpPr>
            <a:spLocks noGrp="1"/>
          </p:cNvSpPr>
          <p:nvPr/>
        </p:nvSpPr>
        <p:spPr>
          <a:xfrm>
            <a:off x="514350" y="514350"/>
            <a:ext cx="11163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三组实验共同回答：系统是否更可靠、更可解释、更省审核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1A0BA3B7-45A9-4462-981A-2CD9671A86A2}"/>
              </a:ext>
            </a:extLst>
          </p:cNvPr>
          <p:cNvSpPr>
            <a:spLocks noGrp="1"/>
          </p:cNvSpPr>
          <p:nvPr/>
        </p:nvSpPr>
        <p:spPr>
          <a:xfrm>
            <a:off x="514350" y="1238250"/>
            <a:ext cx="111633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B68E5211-A81D-4144-A6CD-48E73CA6FFC7}"/>
              </a:ext>
            </a:extLst>
          </p:cNvPr>
          <p:cNvSpPr>
            <a:spLocks noGrp="1"/>
          </p:cNvSpPr>
          <p:nvPr/>
        </p:nvSpPr>
        <p:spPr>
          <a:xfrm>
            <a:off x="11191875" y="64579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150AE18E-ACCE-45ED-A251-B5F454E78C05}"/>
              </a:ext>
            </a:extLst>
          </p:cNvPr>
          <p:cNvSpPr>
            <a:spLocks noGrp="1"/>
          </p:cNvSpPr>
          <p:nvPr/>
        </p:nvSpPr>
        <p:spPr>
          <a:xfrm>
            <a:off x="514350" y="1714500"/>
            <a:ext cx="335280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A13C068C-0FDC-48B9-8099-36D2444840EA}"/>
              </a:ext>
            </a:extLst>
          </p:cNvPr>
          <p:cNvSpPr>
            <a:spLocks noGrp="1"/>
          </p:cNvSpPr>
          <p:nvPr/>
        </p:nvSpPr>
        <p:spPr>
          <a:xfrm>
            <a:off x="514350" y="2038350"/>
            <a:ext cx="335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① 报告生成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113C58B4-4C22-4E7E-8341-D9EC9D67DDEF}"/>
              </a:ext>
            </a:extLst>
          </p:cNvPr>
          <p:cNvSpPr>
            <a:spLocks noGrp="1"/>
          </p:cNvSpPr>
          <p:nvPr/>
        </p:nvSpPr>
        <p:spPr>
          <a:xfrm>
            <a:off x="514350" y="2686050"/>
            <a:ext cx="33528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多阶段工作流</a:t>
            </a:r>
          </a:p>
          <a:p>
            <a:pPr algn="l">
              <a:defRPr sz="15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vs 同证据 One-shot</a:t>
            </a:r>
          </a:p>
          <a:p>
            <a:pPr algn="l">
              <a:defRPr sz="15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vs 同主题人类论文</a:t>
            </a:r>
          </a:p>
        </p:txBody>
      </p:sp>
      <p:sp>
        <p:nvSpPr>
          <p:cNvPr id="8" name="box">
            <a:extLst>
              <a:ext uri="{FF2B5EF4-FFF2-40B4-BE49-F238E27FC236}">
                <a16:creationId xmlns:a16="http://schemas.microsoft.com/office/drawing/2014/main" id="{CE1E28FB-E382-494E-B94B-F0BEBB10E282}"/>
              </a:ext>
            </a:extLst>
          </p:cNvPr>
          <p:cNvSpPr>
            <a:spLocks noGrp="1"/>
          </p:cNvSpPr>
          <p:nvPr/>
        </p:nvSpPr>
        <p:spPr>
          <a:xfrm>
            <a:off x="4352925" y="1714500"/>
            <a:ext cx="3352800" cy="76200"/>
          </a:xfrm>
          <a:prstGeom prst="rect">
            <a:avLst/>
          </a:prstGeom>
          <a:solidFill>
            <a:srgbClr val="198F6E"/>
          </a:solidFill>
          <a:ln w="0">
            <a:noFill/>
            <a:prstDash val="solid"/>
          </a:ln>
        </p:spPr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594AB0CF-8E03-4F49-A9EC-C835E92329F9}"/>
              </a:ext>
            </a:extLst>
          </p:cNvPr>
          <p:cNvSpPr>
            <a:spLocks noGrp="1"/>
          </p:cNvSpPr>
          <p:nvPr/>
        </p:nvSpPr>
        <p:spPr>
          <a:xfrm>
            <a:off x="4352925" y="2038350"/>
            <a:ext cx="335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② 图证据问答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EA86975A-FC42-4B7E-9D4D-88D5B17A4805}"/>
              </a:ext>
            </a:extLst>
          </p:cNvPr>
          <p:cNvSpPr>
            <a:spLocks noGrp="1"/>
          </p:cNvSpPr>
          <p:nvPr/>
        </p:nvSpPr>
        <p:spPr>
          <a:xfrm>
            <a:off x="4352925" y="2686050"/>
            <a:ext cx="33528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Graph RAG</a:t>
            </a:r>
          </a:p>
          <a:p>
            <a:pPr algn="l">
              <a:defRPr sz="15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vs 扁平结构化证据</a:t>
            </a:r>
          </a:p>
          <a:p>
            <a:pPr algn="l">
              <a:defRPr sz="15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vs 无检索 / 仅看图</a:t>
            </a:r>
          </a:p>
        </p:txBody>
      </p:sp>
      <p:sp>
        <p:nvSpPr>
          <p:cNvPr id="11" name="box">
            <a:extLst>
              <a:ext uri="{FF2B5EF4-FFF2-40B4-BE49-F238E27FC236}">
                <a16:creationId xmlns:a16="http://schemas.microsoft.com/office/drawing/2014/main" id="{5444D8B6-0EC6-4C9F-8379-50133F7EA5D7}"/>
              </a:ext>
            </a:extLst>
          </p:cNvPr>
          <p:cNvSpPr>
            <a:spLocks noGrp="1"/>
          </p:cNvSpPr>
          <p:nvPr/>
        </p:nvSpPr>
        <p:spPr>
          <a:xfrm>
            <a:off x="8191500" y="1714500"/>
            <a:ext cx="3352800" cy="76200"/>
          </a:xfrm>
          <a:prstGeom prst="rect">
            <a:avLst/>
          </a:prstGeom>
          <a:solidFill>
            <a:srgbClr val="C68A10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024C1179-EAC8-4023-8C31-A1D5883C334E}"/>
              </a:ext>
            </a:extLst>
          </p:cNvPr>
          <p:cNvSpPr>
            <a:spLocks noGrp="1"/>
          </p:cNvSpPr>
          <p:nvPr/>
        </p:nvSpPr>
        <p:spPr>
          <a:xfrm>
            <a:off x="8191500" y="2038350"/>
            <a:ext cx="335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③ 自适应审核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88C44FB6-84BD-4F43-97DA-F1716F4AE10F}"/>
              </a:ext>
            </a:extLst>
          </p:cNvPr>
          <p:cNvSpPr>
            <a:spLocks noGrp="1"/>
          </p:cNvSpPr>
          <p:nvPr/>
        </p:nvSpPr>
        <p:spPr>
          <a:xfrm>
            <a:off x="8191500" y="2686050"/>
            <a:ext cx="33528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Always / Static / Adaptive</a:t>
            </a:r>
          </a:p>
          <a:p>
            <a:pPr algn="l">
              <a:defRPr sz="15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对比审核请求率、最终质量</a:t>
            </a:r>
          </a:p>
          <a:p>
            <a:pPr algn="l">
              <a:defRPr sz="15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与不安全自动放行</a:t>
            </a:r>
          </a:p>
        </p:txBody>
      </p:sp>
      <p:sp>
        <p:nvSpPr>
          <p:cNvPr id="14" name="rule">
            <a:extLst>
              <a:ext uri="{FF2B5EF4-FFF2-40B4-BE49-F238E27FC236}">
                <a16:creationId xmlns:a16="http://schemas.microsoft.com/office/drawing/2014/main" id="{6908C2C2-627F-4756-A1C0-DED5F36E4D9A}"/>
              </a:ext>
            </a:extLst>
          </p:cNvPr>
          <p:cNvSpPr>
            <a:spLocks noGrp="1"/>
          </p:cNvSpPr>
          <p:nvPr/>
        </p:nvSpPr>
        <p:spPr>
          <a:xfrm>
            <a:off x="514350" y="4457700"/>
            <a:ext cx="110299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5" name="metric-完整自然年主题">
            <a:extLst>
              <a:ext uri="{FF2B5EF4-FFF2-40B4-BE49-F238E27FC236}">
                <a16:creationId xmlns:a16="http://schemas.microsoft.com/office/drawing/2014/main" id="{D9BBAC76-71CC-4826-BD3E-996321B93026}"/>
              </a:ext>
            </a:extLst>
          </p:cNvPr>
          <p:cNvSpPr>
            <a:spLocks noGrp="1"/>
          </p:cNvSpPr>
          <p:nvPr/>
        </p:nvSpPr>
        <p:spPr>
          <a:xfrm>
            <a:off x="514350" y="4762500"/>
            <a:ext cx="228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0F62114F-B0D5-4B3A-962D-E686097F0166}"/>
              </a:ext>
            </a:extLst>
          </p:cNvPr>
          <p:cNvSpPr>
            <a:spLocks noGrp="1"/>
          </p:cNvSpPr>
          <p:nvPr/>
        </p:nvSpPr>
        <p:spPr>
          <a:xfrm>
            <a:off x="514350" y="5448300"/>
            <a:ext cx="228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完整自然年主题</a:t>
            </a:r>
          </a:p>
        </p:txBody>
      </p:sp>
      <p:sp>
        <p:nvSpPr>
          <p:cNvPr id="17" name="metric-锁定主题进入统计">
            <a:extLst>
              <a:ext uri="{FF2B5EF4-FFF2-40B4-BE49-F238E27FC236}">
                <a16:creationId xmlns:a16="http://schemas.microsoft.com/office/drawing/2014/main" id="{FACCA500-1D17-4265-A1EC-EEE0F87AE194}"/>
              </a:ext>
            </a:extLst>
          </p:cNvPr>
          <p:cNvSpPr>
            <a:spLocks noGrp="1"/>
          </p:cNvSpPr>
          <p:nvPr/>
        </p:nvSpPr>
        <p:spPr>
          <a:xfrm>
            <a:off x="3162300" y="4762500"/>
            <a:ext cx="228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B43E34EE-75AD-4659-89FE-25D5B54EA838}"/>
              </a:ext>
            </a:extLst>
          </p:cNvPr>
          <p:cNvSpPr>
            <a:spLocks noGrp="1"/>
          </p:cNvSpPr>
          <p:nvPr/>
        </p:nvSpPr>
        <p:spPr>
          <a:xfrm>
            <a:off x="3162300" y="5448300"/>
            <a:ext cx="228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锁定主题进入统计</a:t>
            </a:r>
          </a:p>
        </p:txBody>
      </p:sp>
      <p:sp>
        <p:nvSpPr>
          <p:cNvPr id="19" name="metric-锁定主题 canonical works">
            <a:extLst>
              <a:ext uri="{FF2B5EF4-FFF2-40B4-BE49-F238E27FC236}">
                <a16:creationId xmlns:a16="http://schemas.microsoft.com/office/drawing/2014/main" id="{F6637EB4-90BE-4DDA-A379-1FC8E88593AA}"/>
              </a:ext>
            </a:extLst>
          </p:cNvPr>
          <p:cNvSpPr>
            <a:spLocks noGrp="1"/>
          </p:cNvSpPr>
          <p:nvPr/>
        </p:nvSpPr>
        <p:spPr>
          <a:xfrm>
            <a:off x="5829300" y="4762500"/>
            <a:ext cx="2476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165,814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8B87F0EE-3A82-433C-A9E4-2819E1966793}"/>
              </a:ext>
            </a:extLst>
          </p:cNvPr>
          <p:cNvSpPr>
            <a:spLocks noGrp="1"/>
          </p:cNvSpPr>
          <p:nvPr/>
        </p:nvSpPr>
        <p:spPr>
          <a:xfrm>
            <a:off x="5829300" y="5448300"/>
            <a:ext cx="2476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锁定主题 canonical works</a:t>
            </a:r>
          </a:p>
        </p:txBody>
      </p:sp>
      <p:sp>
        <p:nvSpPr>
          <p:cNvPr id="21" name="metric-冻结完成性审计通过">
            <a:extLst>
              <a:ext uri="{FF2B5EF4-FFF2-40B4-BE49-F238E27FC236}">
                <a16:creationId xmlns:a16="http://schemas.microsoft.com/office/drawing/2014/main" id="{0CF0E4ED-40F1-46A8-BB96-43F9846864D7}"/>
              </a:ext>
            </a:extLst>
          </p:cNvPr>
          <p:cNvSpPr>
            <a:spLocks noGrp="1"/>
          </p:cNvSpPr>
          <p:nvPr/>
        </p:nvSpPr>
        <p:spPr>
          <a:xfrm>
            <a:off x="8763000" y="4762500"/>
            <a:ext cx="257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198F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98F6E"/>
                </a:solidFill>
                <a:latin typeface="Microsoft YaHei"/>
                <a:ea typeface="Microsoft YaHei"/>
                <a:cs typeface="Microsoft YaHei"/>
              </a:rPr>
              <a:t>108/108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BCA6EF63-EB0B-40EA-8483-8DFC542A6A93}"/>
              </a:ext>
            </a:extLst>
          </p:cNvPr>
          <p:cNvSpPr>
            <a:spLocks noGrp="1"/>
          </p:cNvSpPr>
          <p:nvPr/>
        </p:nvSpPr>
        <p:spPr>
          <a:xfrm>
            <a:off x="8763000" y="5448300"/>
            <a:ext cx="2571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冻结完成性审计通过</a:t>
            </a:r>
          </a:p>
        </p:txBody>
      </p:sp>
    </p:spTree>
    <p:extLst>
      <p:ext uri="{BB962C8B-B14F-4D97-AF65-F5344CB8AC3E}">
        <p14:creationId xmlns:p14="http://schemas.microsoft.com/office/powerpoint/2010/main" val="1845813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kicker">
            <a:extLst>
              <a:ext uri="{FF2B5EF4-FFF2-40B4-BE49-F238E27FC236}">
                <a16:creationId xmlns:a16="http://schemas.microsoft.com/office/drawing/2014/main" id="{7D1C0CA1-1CEE-40AB-BBAA-5E21422FF6E2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CITEWEAVE · FORMAL EXPERIMENTS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4022C5B6-2AA9-463C-B23D-815E376B1170}"/>
              </a:ext>
            </a:extLst>
          </p:cNvPr>
          <p:cNvSpPr>
            <a:spLocks noGrp="1"/>
          </p:cNvSpPr>
          <p:nvPr/>
        </p:nvSpPr>
        <p:spPr>
          <a:xfrm>
            <a:off x="514350" y="514350"/>
            <a:ext cx="11163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正式结果建立在冻结配置、盲评和主题级统计之上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1069FD8D-B333-4BA4-A65F-9CE487A0941E}"/>
              </a:ext>
            </a:extLst>
          </p:cNvPr>
          <p:cNvSpPr>
            <a:spLocks noGrp="1"/>
          </p:cNvSpPr>
          <p:nvPr/>
        </p:nvSpPr>
        <p:spPr>
          <a:xfrm>
            <a:off x="514350" y="1238250"/>
            <a:ext cx="111633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44EBA42A-518C-406E-9FBB-87C227392D82}"/>
              </a:ext>
            </a:extLst>
          </p:cNvPr>
          <p:cNvSpPr>
            <a:spLocks noGrp="1"/>
          </p:cNvSpPr>
          <p:nvPr/>
        </p:nvSpPr>
        <p:spPr>
          <a:xfrm>
            <a:off x="11191875" y="64579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BCAF5584-A0B3-4FF6-A5BB-865001613651}"/>
              </a:ext>
            </a:extLst>
          </p:cNvPr>
          <p:cNvSpPr>
            <a:spLocks noGrp="1"/>
          </p:cNvSpPr>
          <p:nvPr/>
        </p:nvSpPr>
        <p:spPr>
          <a:xfrm>
            <a:off x="514350" y="16383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数据与处理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3141E397-4983-4DDA-B3B6-5844A3F551BD}"/>
              </a:ext>
            </a:extLst>
          </p:cNvPr>
          <p:cNvSpPr>
            <a:spLocks noGrp="1"/>
          </p:cNvSpPr>
          <p:nvPr/>
        </p:nvSpPr>
        <p:spPr>
          <a:xfrm>
            <a:off x="514350" y="205740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数据源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5EA1333E-713E-46BB-90FF-8E8154A64151}"/>
              </a:ext>
            </a:extLst>
          </p:cNvPr>
          <p:cNvSpPr>
            <a:spLocks noGrp="1"/>
          </p:cNvSpPr>
          <p:nvPr/>
        </p:nvSpPr>
        <p:spPr>
          <a:xfrm>
            <a:off x="1581150" y="2057400"/>
            <a:ext cx="3905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OpenAlex；title + abstract；article</a:t>
            </a:r>
          </a:p>
        </p:txBody>
      </p:sp>
      <p:sp>
        <p:nvSpPr>
          <p:cNvPr id="8" name="rule">
            <a:extLst>
              <a:ext uri="{FF2B5EF4-FFF2-40B4-BE49-F238E27FC236}">
                <a16:creationId xmlns:a16="http://schemas.microsoft.com/office/drawing/2014/main" id="{09C4A9AD-DE9E-4CA7-983C-3496E3B3981F}"/>
              </a:ext>
            </a:extLst>
          </p:cNvPr>
          <p:cNvSpPr>
            <a:spLocks noGrp="1"/>
          </p:cNvSpPr>
          <p:nvPr/>
        </p:nvSpPr>
        <p:spPr>
          <a:xfrm>
            <a:off x="514350" y="2609850"/>
            <a:ext cx="4972050" cy="952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C246DB19-1109-404D-A3E7-7C2350F48627}"/>
              </a:ext>
            </a:extLst>
          </p:cNvPr>
          <p:cNvSpPr>
            <a:spLocks noGrp="1"/>
          </p:cNvSpPr>
          <p:nvPr/>
        </p:nvSpPr>
        <p:spPr>
          <a:xfrm>
            <a:off x="514350" y="280035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范围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ECCC6B94-32C5-4BCC-8366-A507C5BA084D}"/>
              </a:ext>
            </a:extLst>
          </p:cNvPr>
          <p:cNvSpPr>
            <a:spLocks noGrp="1"/>
          </p:cNvSpPr>
          <p:nvPr/>
        </p:nvSpPr>
        <p:spPr>
          <a:xfrm>
            <a:off x="1581150" y="2800350"/>
            <a:ext cx="3905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完整自然年；无条数上限；游标耗尽</a:t>
            </a:r>
          </a:p>
        </p:txBody>
      </p:sp>
      <p:sp>
        <p:nvSpPr>
          <p:cNvPr id="11" name="rule">
            <a:extLst>
              <a:ext uri="{FF2B5EF4-FFF2-40B4-BE49-F238E27FC236}">
                <a16:creationId xmlns:a16="http://schemas.microsoft.com/office/drawing/2014/main" id="{914750E2-E9C3-49A2-9C49-0BEAD306C87C}"/>
              </a:ext>
            </a:extLst>
          </p:cNvPr>
          <p:cNvSpPr>
            <a:spLocks noGrp="1"/>
          </p:cNvSpPr>
          <p:nvPr/>
        </p:nvSpPr>
        <p:spPr>
          <a:xfrm>
            <a:off x="514350" y="3352800"/>
            <a:ext cx="4972050" cy="952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1CE5C628-D71F-4FEE-A116-092B1D32CF06}"/>
              </a:ext>
            </a:extLst>
          </p:cNvPr>
          <p:cNvSpPr>
            <a:spLocks noGrp="1"/>
          </p:cNvSpPr>
          <p:nvPr/>
        </p:nvSpPr>
        <p:spPr>
          <a:xfrm>
            <a:off x="514350" y="354330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处理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049A88F1-0AB1-4FB1-8712-41F94C5990D9}"/>
              </a:ext>
            </a:extLst>
          </p:cNvPr>
          <p:cNvSpPr>
            <a:spLocks noGrp="1"/>
          </p:cNvSpPr>
          <p:nvPr/>
        </p:nvSpPr>
        <p:spPr>
          <a:xfrm>
            <a:off x="1581150" y="3543300"/>
            <a:ext cx="3905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chunk 1,000；DuckDB 2GB；全量统计</a:t>
            </a:r>
          </a:p>
        </p:txBody>
      </p:sp>
      <p:sp>
        <p:nvSpPr>
          <p:cNvPr id="14" name="rule">
            <a:extLst>
              <a:ext uri="{FF2B5EF4-FFF2-40B4-BE49-F238E27FC236}">
                <a16:creationId xmlns:a16="http://schemas.microsoft.com/office/drawing/2014/main" id="{01C19F55-5C59-49D6-A0CA-14CBA9F178CD}"/>
              </a:ext>
            </a:extLst>
          </p:cNvPr>
          <p:cNvSpPr>
            <a:spLocks noGrp="1"/>
          </p:cNvSpPr>
          <p:nvPr/>
        </p:nvSpPr>
        <p:spPr>
          <a:xfrm>
            <a:off x="514350" y="4095750"/>
            <a:ext cx="4972050" cy="952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C48CBBD0-B25A-48E7-A9EC-D97E0BB5EA7A}"/>
              </a:ext>
            </a:extLst>
          </p:cNvPr>
          <p:cNvSpPr>
            <a:spLocks noGrp="1"/>
          </p:cNvSpPr>
          <p:nvPr/>
        </p:nvSpPr>
        <p:spPr>
          <a:xfrm>
            <a:off x="514350" y="428625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口径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F691ECBB-820C-404A-B993-EFCDDB668FBB}"/>
              </a:ext>
            </a:extLst>
          </p:cNvPr>
          <p:cNvSpPr>
            <a:spLocks noGrp="1"/>
          </p:cNvSpPr>
          <p:nvPr/>
        </p:nvSpPr>
        <p:spPr>
          <a:xfrm>
            <a:off x="1581150" y="4286250"/>
            <a:ext cx="3905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源记录去重后，再做 DOI / 标题+年份去重</a:t>
            </a:r>
          </a:p>
        </p:txBody>
      </p:sp>
      <p:sp>
        <p:nvSpPr>
          <p:cNvPr id="17" name="rule">
            <a:extLst>
              <a:ext uri="{FF2B5EF4-FFF2-40B4-BE49-F238E27FC236}">
                <a16:creationId xmlns:a16="http://schemas.microsoft.com/office/drawing/2014/main" id="{EC73CAAE-9318-492E-9D01-1F971BFE281E}"/>
              </a:ext>
            </a:extLst>
          </p:cNvPr>
          <p:cNvSpPr>
            <a:spLocks noGrp="1"/>
          </p:cNvSpPr>
          <p:nvPr/>
        </p:nvSpPr>
        <p:spPr>
          <a:xfrm>
            <a:off x="514350" y="4838700"/>
            <a:ext cx="4972050" cy="952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6D4C55AE-1443-476B-97EF-05DC0735296F}"/>
              </a:ext>
            </a:extLst>
          </p:cNvPr>
          <p:cNvSpPr>
            <a:spLocks noGrp="1"/>
          </p:cNvSpPr>
          <p:nvPr/>
        </p:nvSpPr>
        <p:spPr>
          <a:xfrm>
            <a:off x="6286500" y="16383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模型与评价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BFEC0996-E592-43B2-98E8-E41B55F1A8BD}"/>
              </a:ext>
            </a:extLst>
          </p:cNvPr>
          <p:cNvSpPr>
            <a:spLocks noGrp="1"/>
          </p:cNvSpPr>
          <p:nvPr/>
        </p:nvSpPr>
        <p:spPr>
          <a:xfrm>
            <a:off x="6286500" y="2057400"/>
            <a:ext cx="1009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报告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055CABDD-3E7E-4F60-B7B8-AD6C23E7AA91}"/>
              </a:ext>
            </a:extLst>
          </p:cNvPr>
          <p:cNvSpPr>
            <a:spLocks noGrp="1"/>
          </p:cNvSpPr>
          <p:nvPr/>
        </p:nvSpPr>
        <p:spPr>
          <a:xfrm>
            <a:off x="7372350" y="2057400"/>
            <a:ext cx="419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DeepSeek V4 Pro；T=0.1；4-call vs 1-call</a:t>
            </a:r>
          </a:p>
        </p:txBody>
      </p:sp>
      <p:sp>
        <p:nvSpPr>
          <p:cNvPr id="21" name="rule">
            <a:extLst>
              <a:ext uri="{FF2B5EF4-FFF2-40B4-BE49-F238E27FC236}">
                <a16:creationId xmlns:a16="http://schemas.microsoft.com/office/drawing/2014/main" id="{8364885A-AC1F-4984-AB67-1C9366B9C9EA}"/>
              </a:ext>
            </a:extLst>
          </p:cNvPr>
          <p:cNvSpPr>
            <a:spLocks noGrp="1"/>
          </p:cNvSpPr>
          <p:nvPr/>
        </p:nvSpPr>
        <p:spPr>
          <a:xfrm>
            <a:off x="6286500" y="2609850"/>
            <a:ext cx="5276850" cy="952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4C186CE3-E3CD-44A1-B1C4-B9E0839C0BFE}"/>
              </a:ext>
            </a:extLst>
          </p:cNvPr>
          <p:cNvSpPr>
            <a:spLocks noGrp="1"/>
          </p:cNvSpPr>
          <p:nvPr/>
        </p:nvSpPr>
        <p:spPr>
          <a:xfrm>
            <a:off x="6286500" y="2800350"/>
            <a:ext cx="1009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图问答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CBB1ED80-CC69-48E6-A34F-5FC9FFC77C76}"/>
              </a:ext>
            </a:extLst>
          </p:cNvPr>
          <p:cNvSpPr>
            <a:spLocks noGrp="1"/>
          </p:cNvSpPr>
          <p:nvPr/>
        </p:nvSpPr>
        <p:spPr>
          <a:xfrm>
            <a:off x="7372350" y="2800350"/>
            <a:ext cx="419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同模型；T=0；thinking disabled；JSON</a:t>
            </a:r>
          </a:p>
        </p:txBody>
      </p:sp>
      <p:sp>
        <p:nvSpPr>
          <p:cNvPr id="24" name="rule">
            <a:extLst>
              <a:ext uri="{FF2B5EF4-FFF2-40B4-BE49-F238E27FC236}">
                <a16:creationId xmlns:a16="http://schemas.microsoft.com/office/drawing/2014/main" id="{3EF269E7-A026-4803-AF51-A1311CB46122}"/>
              </a:ext>
            </a:extLst>
          </p:cNvPr>
          <p:cNvSpPr>
            <a:spLocks noGrp="1"/>
          </p:cNvSpPr>
          <p:nvPr/>
        </p:nvSpPr>
        <p:spPr>
          <a:xfrm>
            <a:off x="6286500" y="3352800"/>
            <a:ext cx="5276850" cy="952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E5765E20-7E12-43E6-BB43-7956AF42A3C4}"/>
              </a:ext>
            </a:extLst>
          </p:cNvPr>
          <p:cNvSpPr>
            <a:spLocks noGrp="1"/>
          </p:cNvSpPr>
          <p:nvPr/>
        </p:nvSpPr>
        <p:spPr>
          <a:xfrm>
            <a:off x="6286500" y="3543300"/>
            <a:ext cx="1009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Judge</a:t>
            </a:r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9EF41BD7-91F0-4EAB-9514-AF2B1DBBCD3C}"/>
              </a:ext>
            </a:extLst>
          </p:cNvPr>
          <p:cNvSpPr>
            <a:spLocks noGrp="1"/>
          </p:cNvSpPr>
          <p:nvPr/>
        </p:nvSpPr>
        <p:spPr>
          <a:xfrm>
            <a:off x="7372350" y="3543300"/>
            <a:ext cx="419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2 名独立盲评；冲突再 adjudication</a:t>
            </a:r>
          </a:p>
        </p:txBody>
      </p:sp>
      <p:sp>
        <p:nvSpPr>
          <p:cNvPr id="27" name="rule">
            <a:extLst>
              <a:ext uri="{FF2B5EF4-FFF2-40B4-BE49-F238E27FC236}">
                <a16:creationId xmlns:a16="http://schemas.microsoft.com/office/drawing/2014/main" id="{A01390C1-BECA-4777-8F50-59E4953ABB6E}"/>
              </a:ext>
            </a:extLst>
          </p:cNvPr>
          <p:cNvSpPr>
            <a:spLocks noGrp="1"/>
          </p:cNvSpPr>
          <p:nvPr/>
        </p:nvSpPr>
        <p:spPr>
          <a:xfrm>
            <a:off x="6286500" y="4095750"/>
            <a:ext cx="5276850" cy="952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80DFA73A-E662-4CBA-AE2C-BFE0D2488AA4}"/>
              </a:ext>
            </a:extLst>
          </p:cNvPr>
          <p:cNvSpPr>
            <a:spLocks noGrp="1"/>
          </p:cNvSpPr>
          <p:nvPr/>
        </p:nvSpPr>
        <p:spPr>
          <a:xfrm>
            <a:off x="6286500" y="4286250"/>
            <a:ext cx="1009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统计</a:t>
            </a:r>
          </a:p>
        </p:txBody>
      </p:sp>
      <p:sp>
        <p:nvSpPr>
          <p:cNvPr id="29" name="text">
            <a:extLst>
              <a:ext uri="{FF2B5EF4-FFF2-40B4-BE49-F238E27FC236}">
                <a16:creationId xmlns:a16="http://schemas.microsoft.com/office/drawing/2014/main" id="{0BC7EFBB-8A0A-4537-9B23-B741388B75A5}"/>
              </a:ext>
            </a:extLst>
          </p:cNvPr>
          <p:cNvSpPr>
            <a:spLocks noGrp="1"/>
          </p:cNvSpPr>
          <p:nvPr/>
        </p:nvSpPr>
        <p:spPr>
          <a:xfrm>
            <a:off x="7372350" y="4286250"/>
            <a:ext cx="419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6 topic clusters；bootstrap 10,000；Holm</a:t>
            </a:r>
          </a:p>
        </p:txBody>
      </p:sp>
      <p:sp>
        <p:nvSpPr>
          <p:cNvPr id="30" name="rule">
            <a:extLst>
              <a:ext uri="{FF2B5EF4-FFF2-40B4-BE49-F238E27FC236}">
                <a16:creationId xmlns:a16="http://schemas.microsoft.com/office/drawing/2014/main" id="{C9ED3205-4C44-48B0-B520-4881C8B2C742}"/>
              </a:ext>
            </a:extLst>
          </p:cNvPr>
          <p:cNvSpPr>
            <a:spLocks noGrp="1"/>
          </p:cNvSpPr>
          <p:nvPr/>
        </p:nvSpPr>
        <p:spPr>
          <a:xfrm>
            <a:off x="6286500" y="4838700"/>
            <a:ext cx="5276850" cy="952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31" name="box">
            <a:extLst>
              <a:ext uri="{FF2B5EF4-FFF2-40B4-BE49-F238E27FC236}">
                <a16:creationId xmlns:a16="http://schemas.microsoft.com/office/drawing/2014/main" id="{2ECF4E8D-ECC4-41CA-8FCA-015748D5585D}"/>
              </a:ext>
            </a:extLst>
          </p:cNvPr>
          <p:cNvSpPr>
            <a:spLocks noGrp="1"/>
          </p:cNvSpPr>
          <p:nvPr/>
        </p:nvSpPr>
        <p:spPr>
          <a:xfrm>
            <a:off x="514350" y="5334000"/>
            <a:ext cx="11049000" cy="723900"/>
          </a:xfrm>
          <a:prstGeom prst="rect">
            <a:avLst/>
          </a:prstGeom>
          <a:solidFill>
            <a:srgbClr val="F6F7F9"/>
          </a:solidFill>
          <a:ln w="0">
            <a:noFill/>
            <a:prstDash val="solid"/>
          </a:ln>
        </p:spPr>
      </p:sp>
      <p:sp>
        <p:nvSpPr>
          <p:cNvPr id="32" name="text">
            <a:extLst>
              <a:ext uri="{FF2B5EF4-FFF2-40B4-BE49-F238E27FC236}">
                <a16:creationId xmlns:a16="http://schemas.microsoft.com/office/drawing/2014/main" id="{B548A35C-DD0D-4235-8AA6-50391F1B154C}"/>
              </a:ext>
            </a:extLst>
          </p:cNvPr>
          <p:cNvSpPr>
            <a:spLocks noGrp="1"/>
          </p:cNvSpPr>
          <p:nvPr/>
        </p:nvSpPr>
        <p:spPr>
          <a:xfrm>
            <a:off x="723900" y="5543550"/>
            <a:ext cx="10629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核心约束：开发主题只用于校准；所有正式比较只使用 6 个锁定主题。</a:t>
            </a:r>
          </a:p>
        </p:txBody>
      </p:sp>
    </p:spTree>
    <p:extLst>
      <p:ext uri="{BB962C8B-B14F-4D97-AF65-F5344CB8AC3E}">
        <p14:creationId xmlns:p14="http://schemas.microsoft.com/office/powerpoint/2010/main" val="694793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kicker">
            <a:extLst>
              <a:ext uri="{FF2B5EF4-FFF2-40B4-BE49-F238E27FC236}">
                <a16:creationId xmlns:a16="http://schemas.microsoft.com/office/drawing/2014/main" id="{3013158D-0627-4DE2-AE75-FCF6BFA3067A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CITEWEAVE · FORMAL EXPERIMENTS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C060E7A-4EA0-4225-B45E-0D63D4A9669A}"/>
              </a:ext>
            </a:extLst>
          </p:cNvPr>
          <p:cNvSpPr>
            <a:spLocks noGrp="1"/>
          </p:cNvSpPr>
          <p:nvPr/>
        </p:nvSpPr>
        <p:spPr>
          <a:xfrm>
            <a:off x="514350" y="514350"/>
            <a:ext cx="11163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报告实验只改变生成策略，两种系统条件共享冻结证据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C19C4B60-6B6B-445A-A806-EBF2F82F8235}"/>
              </a:ext>
            </a:extLst>
          </p:cNvPr>
          <p:cNvSpPr>
            <a:spLocks noGrp="1"/>
          </p:cNvSpPr>
          <p:nvPr/>
        </p:nvSpPr>
        <p:spPr>
          <a:xfrm>
            <a:off x="514350" y="1238250"/>
            <a:ext cx="111633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5505379D-C74B-4920-9783-FA43B71E4D9E}"/>
              </a:ext>
            </a:extLst>
          </p:cNvPr>
          <p:cNvSpPr>
            <a:spLocks noGrp="1"/>
          </p:cNvSpPr>
          <p:nvPr/>
        </p:nvSpPr>
        <p:spPr>
          <a:xfrm>
            <a:off x="11191875" y="64579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box">
            <a:extLst>
              <a:ext uri="{FF2B5EF4-FFF2-40B4-BE49-F238E27FC236}">
                <a16:creationId xmlns:a16="http://schemas.microsoft.com/office/drawing/2014/main" id="{6A372D28-386E-45F1-B9EF-7F1BCFFBF532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11049000" cy="609600"/>
          </a:xfrm>
          <a:prstGeom prst="rect">
            <a:avLst/>
          </a:prstGeom>
          <a:solidFill>
            <a:srgbClr val="F6F7F9"/>
          </a:solidFill>
          <a:ln w="0">
            <a:noFill/>
            <a:prstDash val="solid"/>
          </a:ln>
        </p:spPr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CB17EEAA-8A87-4228-9BC5-C460BB8E273F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1057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冻结 Evidence Bundle：相同数据、相同指标、相同 evidence hash</a:t>
            </a:r>
          </a:p>
        </p:txBody>
      </p:sp>
      <p:sp>
        <p:nvSpPr>
          <p:cNvPr id="7" name="rule">
            <a:extLst>
              <a:ext uri="{FF2B5EF4-FFF2-40B4-BE49-F238E27FC236}">
                <a16:creationId xmlns:a16="http://schemas.microsoft.com/office/drawing/2014/main" id="{A0D0F6AE-44D4-4E8F-9266-020465363ADE}"/>
              </a:ext>
            </a:extLst>
          </p:cNvPr>
          <p:cNvSpPr>
            <a:spLocks noGrp="1"/>
          </p:cNvSpPr>
          <p:nvPr/>
        </p:nvSpPr>
        <p:spPr>
          <a:xfrm>
            <a:off x="514350" y="2647950"/>
            <a:ext cx="3276600" cy="571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1B6C462C-8D01-4BF2-933F-8593775C579F}"/>
              </a:ext>
            </a:extLst>
          </p:cNvPr>
          <p:cNvSpPr>
            <a:spLocks noGrp="1"/>
          </p:cNvSpPr>
          <p:nvPr/>
        </p:nvSpPr>
        <p:spPr>
          <a:xfrm>
            <a:off x="514350" y="2895600"/>
            <a:ext cx="3276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CiteWeave Full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A56E9498-C3D4-40C0-89FB-39714BF69DE7}"/>
              </a:ext>
            </a:extLst>
          </p:cNvPr>
          <p:cNvSpPr>
            <a:spLocks noGrp="1"/>
          </p:cNvSpPr>
          <p:nvPr/>
        </p:nvSpPr>
        <p:spPr>
          <a:xfrm>
            <a:off x="514350" y="3448050"/>
            <a:ext cx="3276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40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4 calls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B9443D0F-F951-4916-9A57-5E1936409DB3}"/>
              </a:ext>
            </a:extLst>
          </p:cNvPr>
          <p:cNvSpPr>
            <a:spLocks noGrp="1"/>
          </p:cNvSpPr>
          <p:nvPr/>
        </p:nvSpPr>
        <p:spPr>
          <a:xfrm>
            <a:off x="514350" y="4095750"/>
            <a:ext cx="32766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编辑计划 → 初稿 → 内审 → 修订</a:t>
            </a:r>
          </a:p>
          <a:p>
            <a:pPr algn="l">
              <a:def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每条经验性声明绑定 [E###]</a:t>
            </a:r>
          </a:p>
        </p:txBody>
      </p:sp>
      <p:sp>
        <p:nvSpPr>
          <p:cNvPr id="11" name="rule">
            <a:extLst>
              <a:ext uri="{FF2B5EF4-FFF2-40B4-BE49-F238E27FC236}">
                <a16:creationId xmlns:a16="http://schemas.microsoft.com/office/drawing/2014/main" id="{9CCCA42B-02AF-4788-A8BE-054A7B3106F0}"/>
              </a:ext>
            </a:extLst>
          </p:cNvPr>
          <p:cNvSpPr>
            <a:spLocks noGrp="1"/>
          </p:cNvSpPr>
          <p:nvPr/>
        </p:nvSpPr>
        <p:spPr>
          <a:xfrm>
            <a:off x="4343400" y="2647950"/>
            <a:ext cx="3276600" cy="571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6C020203-821A-48C2-802D-F99A5B9597B5}"/>
              </a:ext>
            </a:extLst>
          </p:cNvPr>
          <p:cNvSpPr>
            <a:spLocks noGrp="1"/>
          </p:cNvSpPr>
          <p:nvPr/>
        </p:nvSpPr>
        <p:spPr>
          <a:xfrm>
            <a:off x="4343400" y="2895600"/>
            <a:ext cx="3276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Structured One-shot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0D44A9EE-2B3D-4E58-80FC-5D46FE9E9AD3}"/>
              </a:ext>
            </a:extLst>
          </p:cNvPr>
          <p:cNvSpPr>
            <a:spLocks noGrp="1"/>
          </p:cNvSpPr>
          <p:nvPr/>
        </p:nvSpPr>
        <p:spPr>
          <a:xfrm>
            <a:off x="4343400" y="3448050"/>
            <a:ext cx="3276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4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1 call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D3A19DFA-9861-4AAC-8A8B-64562977967E}"/>
              </a:ext>
            </a:extLst>
          </p:cNvPr>
          <p:cNvSpPr>
            <a:spLocks noGrp="1"/>
          </p:cNvSpPr>
          <p:nvPr/>
        </p:nvSpPr>
        <p:spPr>
          <a:xfrm>
            <a:off x="4343400" y="4095750"/>
            <a:ext cx="32766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一次性读取相同结构化证据</a:t>
            </a:r>
          </a:p>
          <a:p>
            <a:pPr algn="l">
              <a:def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直接产出完整报告</a:t>
            </a:r>
          </a:p>
        </p:txBody>
      </p:sp>
      <p:sp>
        <p:nvSpPr>
          <p:cNvPr id="15" name="rule">
            <a:extLst>
              <a:ext uri="{FF2B5EF4-FFF2-40B4-BE49-F238E27FC236}">
                <a16:creationId xmlns:a16="http://schemas.microsoft.com/office/drawing/2014/main" id="{5FF4A5A2-5D23-42D7-9C89-A8EC484D482D}"/>
              </a:ext>
            </a:extLst>
          </p:cNvPr>
          <p:cNvSpPr>
            <a:spLocks noGrp="1"/>
          </p:cNvSpPr>
          <p:nvPr/>
        </p:nvSpPr>
        <p:spPr>
          <a:xfrm>
            <a:off x="8172450" y="2647950"/>
            <a:ext cx="3276600" cy="57150"/>
          </a:xfrm>
          <a:prstGeom prst="rect">
            <a:avLst/>
          </a:prstGeom>
          <a:solidFill>
            <a:srgbClr val="0B0D10"/>
          </a:solidFill>
          <a:ln w="0">
            <a:noFill/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AA7E0E18-8327-45B3-8A34-0BF88C09FA72}"/>
              </a:ext>
            </a:extLst>
          </p:cNvPr>
          <p:cNvSpPr>
            <a:spLocks noGrp="1"/>
          </p:cNvSpPr>
          <p:nvPr/>
        </p:nvSpPr>
        <p:spPr>
          <a:xfrm>
            <a:off x="8172450" y="2895600"/>
            <a:ext cx="3276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Human Reference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4DF9C42A-EEF3-4038-8B5B-3D42D0770C47}"/>
              </a:ext>
            </a:extLst>
          </p:cNvPr>
          <p:cNvSpPr>
            <a:spLocks noGrp="1"/>
          </p:cNvSpPr>
          <p:nvPr/>
        </p:nvSpPr>
        <p:spPr>
          <a:xfrm>
            <a:off x="8172450" y="3448050"/>
            <a:ext cx="3276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4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published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CE95CD6B-8B2D-4D7E-A779-0BCBB1790F7C}"/>
              </a:ext>
            </a:extLst>
          </p:cNvPr>
          <p:cNvSpPr>
            <a:spLocks noGrp="1"/>
          </p:cNvSpPr>
          <p:nvPr/>
        </p:nvSpPr>
        <p:spPr>
          <a:xfrm>
            <a:off x="8172450" y="4095750"/>
            <a:ext cx="32766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同主题已发表文献计量论文</a:t>
            </a:r>
          </a:p>
          <a:p>
            <a:pPr algn="l">
              <a:def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质量参照，不是同语料 gold truth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0EB17605-56E4-45B1-9C8B-28A3A8DBBF32}"/>
              </a:ext>
            </a:extLst>
          </p:cNvPr>
          <p:cNvSpPr>
            <a:spLocks noGrp="1"/>
          </p:cNvSpPr>
          <p:nvPr/>
        </p:nvSpPr>
        <p:spPr>
          <a:xfrm>
            <a:off x="514350" y="5600700"/>
            <a:ext cx="1104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评价：声明支持性（UCR） · 完整度（1–5） · 盲评总体偏好</a:t>
            </a:r>
          </a:p>
        </p:txBody>
      </p:sp>
    </p:spTree>
    <p:extLst>
      <p:ext uri="{BB962C8B-B14F-4D97-AF65-F5344CB8AC3E}">
        <p14:creationId xmlns:p14="http://schemas.microsoft.com/office/powerpoint/2010/main" val="1396906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kicker">
            <a:extLst>
              <a:ext uri="{FF2B5EF4-FFF2-40B4-BE49-F238E27FC236}">
                <a16:creationId xmlns:a16="http://schemas.microsoft.com/office/drawing/2014/main" id="{00FE8938-8916-4A77-8C0F-AFD74221BC1E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CITEWEAVE · FORMAL EXPERIMENTS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6AFE5085-6DE9-4D3C-B592-6B5BD87C446C}"/>
              </a:ext>
            </a:extLst>
          </p:cNvPr>
          <p:cNvSpPr>
            <a:spLocks noGrp="1"/>
          </p:cNvSpPr>
          <p:nvPr/>
        </p:nvSpPr>
        <p:spPr>
          <a:xfrm>
            <a:off x="514350" y="514350"/>
            <a:ext cx="11163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多阶段报告优于一次生成；对人类参考的优势主要在完整度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FFDC4102-2C35-49C7-B93D-BDE5757C174A}"/>
              </a:ext>
            </a:extLst>
          </p:cNvPr>
          <p:cNvSpPr>
            <a:spLocks noGrp="1"/>
          </p:cNvSpPr>
          <p:nvPr/>
        </p:nvSpPr>
        <p:spPr>
          <a:xfrm>
            <a:off x="514350" y="1238250"/>
            <a:ext cx="111633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ED9EA919-23E6-4666-9D02-340FDBD8A7C5}"/>
              </a:ext>
            </a:extLst>
          </p:cNvPr>
          <p:cNvSpPr>
            <a:spLocks noGrp="1"/>
          </p:cNvSpPr>
          <p:nvPr/>
        </p:nvSpPr>
        <p:spPr>
          <a:xfrm>
            <a:off x="11191875" y="64579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="552450" y="1657350"/>
          <a:ext cx="561975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">
            <a:extLst>
              <a:ext uri="{FF2B5EF4-FFF2-40B4-BE49-F238E27FC236}">
                <a16:creationId xmlns:a16="http://schemas.microsoft.com/office/drawing/2014/main" id="{CCAAB7E8-F751-45BF-968A-734EC4BD4D71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不受支持声明率（UCR，越低越好）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10308622-5342-4E48-90C7-9B7E0A62E01F}"/>
              </a:ext>
            </a:extLst>
          </p:cNvPr>
          <p:cNvSpPr>
            <a:spLocks noGrp="1"/>
          </p:cNvSpPr>
          <p:nvPr/>
        </p:nvSpPr>
        <p:spPr>
          <a:xfrm>
            <a:off x="6667500" y="16764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Full vs One-shot</a:t>
            </a:r>
          </a:p>
        </p:txBody>
      </p:sp>
      <p:sp>
        <p:nvSpPr>
          <p:cNvPr id="8" name="metric-UCR 绝对降低&#10;95% CI：2.9–10.2 pp">
            <a:extLst>
              <a:ext uri="{FF2B5EF4-FFF2-40B4-BE49-F238E27FC236}">
                <a16:creationId xmlns:a16="http://schemas.microsoft.com/office/drawing/2014/main" id="{02D412AA-F479-450B-AA78-C8BA50FE698E}"/>
              </a:ext>
            </a:extLst>
          </p:cNvPr>
          <p:cNvSpPr>
            <a:spLocks noGrp="1"/>
          </p:cNvSpPr>
          <p:nvPr/>
        </p:nvSpPr>
        <p:spPr>
          <a:xfrm>
            <a:off x="6667500" y="2038350"/>
            <a:ext cx="2247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−6.6 pp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D55B0062-C182-426D-B58E-4D53E01560FB}"/>
              </a:ext>
            </a:extLst>
          </p:cNvPr>
          <p:cNvSpPr>
            <a:spLocks noGrp="1"/>
          </p:cNvSpPr>
          <p:nvPr/>
        </p:nvSpPr>
        <p:spPr>
          <a:xfrm>
            <a:off x="6667500" y="2724150"/>
            <a:ext cx="2247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UCR 绝对降低</a:t>
            </a:r>
          </a:p>
          <a:p>
            <a:pPr algn="l">
              <a:def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95% CI：2.9–10.2 pp</a:t>
            </a:r>
          </a:p>
        </p:txBody>
      </p:sp>
      <p:sp>
        <p:nvSpPr>
          <p:cNvPr id="10" name="metric-锁定主题全部获偏好">
            <a:extLst>
              <a:ext uri="{FF2B5EF4-FFF2-40B4-BE49-F238E27FC236}">
                <a16:creationId xmlns:a16="http://schemas.microsoft.com/office/drawing/2014/main" id="{5FAD3588-3F8C-498F-AF00-BC4452B5F973}"/>
              </a:ext>
            </a:extLst>
          </p:cNvPr>
          <p:cNvSpPr>
            <a:spLocks noGrp="1"/>
          </p:cNvSpPr>
          <p:nvPr/>
        </p:nvSpPr>
        <p:spPr>
          <a:xfrm>
            <a:off x="9277350" y="2038350"/>
            <a:ext cx="209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198F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98F6E"/>
                </a:solidFill>
                <a:latin typeface="Microsoft YaHei"/>
                <a:ea typeface="Microsoft YaHei"/>
                <a:cs typeface="Microsoft YaHei"/>
              </a:rPr>
              <a:t>6 / 6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9626F2A6-7A60-4CDD-9235-6EBB2E87C2B0}"/>
              </a:ext>
            </a:extLst>
          </p:cNvPr>
          <p:cNvSpPr>
            <a:spLocks noGrp="1"/>
          </p:cNvSpPr>
          <p:nvPr/>
        </p:nvSpPr>
        <p:spPr>
          <a:xfrm>
            <a:off x="9277350" y="2724150"/>
            <a:ext cx="209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锁定主题全部获偏好</a:t>
            </a:r>
          </a:p>
        </p:txBody>
      </p:sp>
      <p:sp>
        <p:nvSpPr>
          <p:cNvPr id="12" name="rule">
            <a:extLst>
              <a:ext uri="{FF2B5EF4-FFF2-40B4-BE49-F238E27FC236}">
                <a16:creationId xmlns:a16="http://schemas.microsoft.com/office/drawing/2014/main" id="{92A556D1-E216-4B75-B4B5-CDFC3055449C}"/>
              </a:ext>
            </a:extLst>
          </p:cNvPr>
          <p:cNvSpPr>
            <a:spLocks noGrp="1"/>
          </p:cNvSpPr>
          <p:nvPr/>
        </p:nvSpPr>
        <p:spPr>
          <a:xfrm>
            <a:off x="6667500" y="3619500"/>
            <a:ext cx="4724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026C651C-DA64-44A1-AF9A-B8C14430471C}"/>
              </a:ext>
            </a:extLst>
          </p:cNvPr>
          <p:cNvSpPr>
            <a:spLocks noGrp="1"/>
          </p:cNvSpPr>
          <p:nvPr/>
        </p:nvSpPr>
        <p:spPr>
          <a:xfrm>
            <a:off x="6667500" y="38862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Full vs Human Reference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BD2CBF98-97D2-4050-921A-CBDC1231EDA5}"/>
              </a:ext>
            </a:extLst>
          </p:cNvPr>
          <p:cNvSpPr>
            <a:spLocks noGrp="1"/>
          </p:cNvSpPr>
          <p:nvPr/>
        </p:nvSpPr>
        <p:spPr>
          <a:xfrm>
            <a:off x="6667500" y="4286250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UCR 差异区间跨 0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7044CDCD-E70D-4982-B277-D023685C32D2}"/>
              </a:ext>
            </a:extLst>
          </p:cNvPr>
          <p:cNvSpPr>
            <a:spLocks noGrp="1"/>
          </p:cNvSpPr>
          <p:nvPr/>
        </p:nvSpPr>
        <p:spPr>
          <a:xfrm>
            <a:off x="6667500" y="4686300"/>
            <a:ext cx="4724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不能声称事实支持度显著优于人类论文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18B2B1AB-F913-4AA7-BD4A-8549074A0007}"/>
              </a:ext>
            </a:extLst>
          </p:cNvPr>
          <p:cNvSpPr>
            <a:spLocks noGrp="1"/>
          </p:cNvSpPr>
          <p:nvPr/>
        </p:nvSpPr>
        <p:spPr>
          <a:xfrm>
            <a:off x="6667500" y="5314950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+1.917 完整度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A3FD29D7-4587-4B9C-9B35-469A215726DC}"/>
              </a:ext>
            </a:extLst>
          </p:cNvPr>
          <p:cNvSpPr>
            <a:spLocks noGrp="1"/>
          </p:cNvSpPr>
          <p:nvPr/>
        </p:nvSpPr>
        <p:spPr>
          <a:xfrm>
            <a:off x="9086850" y="5353050"/>
            <a:ext cx="2305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且 6/6 主题获总体偏好</a:t>
            </a:r>
          </a:p>
        </p:txBody>
      </p:sp>
    </p:spTree>
    <p:extLst>
      <p:ext uri="{BB962C8B-B14F-4D97-AF65-F5344CB8AC3E}">
        <p14:creationId xmlns:p14="http://schemas.microsoft.com/office/powerpoint/2010/main" val="1011930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kicker">
            <a:extLst>
              <a:ext uri="{FF2B5EF4-FFF2-40B4-BE49-F238E27FC236}">
                <a16:creationId xmlns:a16="http://schemas.microsoft.com/office/drawing/2014/main" id="{5BCC62F8-5D67-4547-8DCB-81152D093C54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CITEWEAVE · FORMAL EXPERIMENTS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3070F0A-2D7C-468B-B324-42189818F966}"/>
              </a:ext>
            </a:extLst>
          </p:cNvPr>
          <p:cNvSpPr>
            <a:spLocks noGrp="1"/>
          </p:cNvSpPr>
          <p:nvPr/>
        </p:nvSpPr>
        <p:spPr>
          <a:xfrm>
            <a:off x="514350" y="514350"/>
            <a:ext cx="11163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图实验拆开验证：Grounding 是否必要，图表示是否更优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A6EE69BE-B24E-473D-A55B-F90AA6F88351}"/>
              </a:ext>
            </a:extLst>
          </p:cNvPr>
          <p:cNvSpPr>
            <a:spLocks noGrp="1"/>
          </p:cNvSpPr>
          <p:nvPr/>
        </p:nvSpPr>
        <p:spPr>
          <a:xfrm>
            <a:off x="514350" y="1238250"/>
            <a:ext cx="111633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370A9302-BD1E-42C1-BD40-229D6DF6BA44}"/>
              </a:ext>
            </a:extLst>
          </p:cNvPr>
          <p:cNvSpPr>
            <a:spLocks noGrp="1"/>
          </p:cNvSpPr>
          <p:nvPr/>
        </p:nvSpPr>
        <p:spPr>
          <a:xfrm>
            <a:off x="11191875" y="64579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A6243417-3327-4104-B7F1-C1C748B35475}"/>
              </a:ext>
            </a:extLst>
          </p:cNvPr>
          <p:cNvSpPr>
            <a:spLocks noGrp="1"/>
          </p:cNvSpPr>
          <p:nvPr/>
        </p:nvSpPr>
        <p:spPr>
          <a:xfrm>
            <a:off x="514350" y="1676400"/>
            <a:ext cx="3276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无证据</a:t>
            </a:r>
          </a:p>
        </p:txBody>
      </p:sp>
      <p:sp>
        <p:nvSpPr>
          <p:cNvPr id="6" name="rule">
            <a:extLst>
              <a:ext uri="{FF2B5EF4-FFF2-40B4-BE49-F238E27FC236}">
                <a16:creationId xmlns:a16="http://schemas.microsoft.com/office/drawing/2014/main" id="{42950730-F05C-4EE5-B9D9-256D7754E6CC}"/>
              </a:ext>
            </a:extLst>
          </p:cNvPr>
          <p:cNvSpPr>
            <a:spLocks noGrp="1"/>
          </p:cNvSpPr>
          <p:nvPr/>
        </p:nvSpPr>
        <p:spPr>
          <a:xfrm>
            <a:off x="514350" y="2057400"/>
            <a:ext cx="3276600" cy="666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E94D57F2-1DE2-4198-B4FE-74BD402BBDA9}"/>
              </a:ext>
            </a:extLst>
          </p:cNvPr>
          <p:cNvSpPr>
            <a:spLocks noGrp="1"/>
          </p:cNvSpPr>
          <p:nvPr/>
        </p:nvSpPr>
        <p:spPr>
          <a:xfrm>
            <a:off x="514350" y="2381250"/>
            <a:ext cx="3276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No RAG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9BC730DF-FA0E-481C-9051-60455C468E33}"/>
              </a:ext>
            </a:extLst>
          </p:cNvPr>
          <p:cNvSpPr>
            <a:spLocks noGrp="1"/>
          </p:cNvSpPr>
          <p:nvPr/>
        </p:nvSpPr>
        <p:spPr>
          <a:xfrm>
            <a:off x="514350" y="3009900"/>
            <a:ext cx="32766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只给问题与输出 contract</a:t>
            </a:r>
          </a:p>
          <a:p>
            <a:pPr algn="l">
              <a:def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不提供任何检索事实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58060A2D-C121-4572-90D0-560FC8B71FC2}"/>
              </a:ext>
            </a:extLst>
          </p:cNvPr>
          <p:cNvSpPr>
            <a:spLocks noGrp="1"/>
          </p:cNvSpPr>
          <p:nvPr/>
        </p:nvSpPr>
        <p:spPr>
          <a:xfrm>
            <a:off x="4343400" y="1676400"/>
            <a:ext cx="3276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有证据</a:t>
            </a:r>
          </a:p>
        </p:txBody>
      </p:sp>
      <p:sp>
        <p:nvSpPr>
          <p:cNvPr id="10" name="rule">
            <a:extLst>
              <a:ext uri="{FF2B5EF4-FFF2-40B4-BE49-F238E27FC236}">
                <a16:creationId xmlns:a16="http://schemas.microsoft.com/office/drawing/2014/main" id="{E6CAA276-3E7B-42BE-9E6E-8196BA865F50}"/>
              </a:ext>
            </a:extLst>
          </p:cNvPr>
          <p:cNvSpPr>
            <a:spLocks noGrp="1"/>
          </p:cNvSpPr>
          <p:nvPr/>
        </p:nvSpPr>
        <p:spPr>
          <a:xfrm>
            <a:off x="4343400" y="2057400"/>
            <a:ext cx="3276600" cy="666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F3728B5F-821A-4609-B87D-FA4FAC7D61DC}"/>
              </a:ext>
            </a:extLst>
          </p:cNvPr>
          <p:cNvSpPr>
            <a:spLocks noGrp="1"/>
          </p:cNvSpPr>
          <p:nvPr/>
        </p:nvSpPr>
        <p:spPr>
          <a:xfrm>
            <a:off x="4343400" y="2381250"/>
            <a:ext cx="3276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Flat Structured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10DA3C04-B272-4F36-B578-A6D6E1AAE2A4}"/>
              </a:ext>
            </a:extLst>
          </p:cNvPr>
          <p:cNvSpPr>
            <a:spLocks noGrp="1"/>
          </p:cNvSpPr>
          <p:nvPr/>
        </p:nvSpPr>
        <p:spPr>
          <a:xfrm>
            <a:off x="4343400" y="3009900"/>
            <a:ext cx="32766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提供同任务所需的扁平事实</a:t>
            </a:r>
          </a:p>
          <a:p>
            <a:pPr algn="l">
              <a:def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无图实体与关系结构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CA7C1C8A-436F-482E-A747-DC6FA62EED5D}"/>
              </a:ext>
            </a:extLst>
          </p:cNvPr>
          <p:cNvSpPr>
            <a:spLocks noGrp="1"/>
          </p:cNvSpPr>
          <p:nvPr/>
        </p:nvSpPr>
        <p:spPr>
          <a:xfrm>
            <a:off x="8172450" y="1676400"/>
            <a:ext cx="3276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图证据</a:t>
            </a:r>
          </a:p>
        </p:txBody>
      </p:sp>
      <p:sp>
        <p:nvSpPr>
          <p:cNvPr id="14" name="rule">
            <a:extLst>
              <a:ext uri="{FF2B5EF4-FFF2-40B4-BE49-F238E27FC236}">
                <a16:creationId xmlns:a16="http://schemas.microsoft.com/office/drawing/2014/main" id="{67777726-75F7-463C-B1C7-45AD5A76BF85}"/>
              </a:ext>
            </a:extLst>
          </p:cNvPr>
          <p:cNvSpPr>
            <a:spLocks noGrp="1"/>
          </p:cNvSpPr>
          <p:nvPr/>
        </p:nvSpPr>
        <p:spPr>
          <a:xfrm>
            <a:off x="8172450" y="2057400"/>
            <a:ext cx="3276600" cy="6667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C88C64F6-DBB2-4F15-90EC-74A253EBC6A6}"/>
              </a:ext>
            </a:extLst>
          </p:cNvPr>
          <p:cNvSpPr>
            <a:spLocks noGrp="1"/>
          </p:cNvSpPr>
          <p:nvPr/>
        </p:nvSpPr>
        <p:spPr>
          <a:xfrm>
            <a:off x="8172450" y="2381250"/>
            <a:ext cx="3276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Graph RAG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93CB085F-6080-4963-8D69-E61EE0F3C68F}"/>
              </a:ext>
            </a:extLst>
          </p:cNvPr>
          <p:cNvSpPr>
            <a:spLocks noGrp="1"/>
          </p:cNvSpPr>
          <p:nvPr/>
        </p:nvSpPr>
        <p:spPr>
          <a:xfrm>
            <a:off x="8172450" y="3009900"/>
            <a:ext cx="32766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提供实体、关系与路径</a:t>
            </a:r>
          </a:p>
          <a:p>
            <a:pPr algn="l">
              <a:def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可追溯到 canonical graph evidence</a:t>
            </a:r>
          </a:p>
        </p:txBody>
      </p:sp>
      <p:sp>
        <p:nvSpPr>
          <p:cNvPr id="17" name="box">
            <a:extLst>
              <a:ext uri="{FF2B5EF4-FFF2-40B4-BE49-F238E27FC236}">
                <a16:creationId xmlns:a16="http://schemas.microsoft.com/office/drawing/2014/main" id="{332C4702-1ED3-42A3-928D-944A4F17CB25}"/>
              </a:ext>
            </a:extLst>
          </p:cNvPr>
          <p:cNvSpPr>
            <a:spLocks noGrp="1"/>
          </p:cNvSpPr>
          <p:nvPr/>
        </p:nvSpPr>
        <p:spPr>
          <a:xfrm>
            <a:off x="514350" y="4362450"/>
            <a:ext cx="11049000" cy="1352550"/>
          </a:xfrm>
          <a:prstGeom prst="rect">
            <a:avLst/>
          </a:prstGeom>
          <a:solidFill>
            <a:srgbClr val="F6F7F9"/>
          </a:solidFill>
          <a:ln w="0">
            <a:noFill/>
            <a:prstDash val="solid"/>
          </a:ln>
        </p:spPr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04700955-4751-4F35-9729-22E0A4D5BF98}"/>
              </a:ext>
            </a:extLst>
          </p:cNvPr>
          <p:cNvSpPr>
            <a:spLocks noGrp="1"/>
          </p:cNvSpPr>
          <p:nvPr/>
        </p:nvSpPr>
        <p:spPr>
          <a:xfrm>
            <a:off x="742950" y="4591050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174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0C07C695-6550-4A38-A139-C6CAC5F2F234}"/>
              </a:ext>
            </a:extLst>
          </p:cNvPr>
          <p:cNvSpPr>
            <a:spLocks noGrp="1"/>
          </p:cNvSpPr>
          <p:nvPr/>
        </p:nvSpPr>
        <p:spPr>
          <a:xfrm>
            <a:off x="742950" y="51816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锁定主题文本问答项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560D5957-52F9-4205-98B6-304F23CC3631}"/>
              </a:ext>
            </a:extLst>
          </p:cNvPr>
          <p:cNvSpPr>
            <a:spLocks noGrp="1"/>
          </p:cNvSpPr>
          <p:nvPr/>
        </p:nvSpPr>
        <p:spPr>
          <a:xfrm>
            <a:off x="3162300" y="462915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6 类网络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62459B38-B195-4E01-AB3A-6618D532FDE5}"/>
              </a:ext>
            </a:extLst>
          </p:cNvPr>
          <p:cNvSpPr>
            <a:spLocks noGrp="1"/>
          </p:cNvSpPr>
          <p:nvPr/>
        </p:nvSpPr>
        <p:spPr>
          <a:xfrm>
            <a:off x="3162300" y="512445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耦合 / 引用 / 合作 / 共引 / 机构 / 关键词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35B61339-9559-4313-B2CB-4C0D69FF0A40}"/>
              </a:ext>
            </a:extLst>
          </p:cNvPr>
          <p:cNvSpPr>
            <a:spLocks noGrp="1"/>
          </p:cNvSpPr>
          <p:nvPr/>
        </p:nvSpPr>
        <p:spPr>
          <a:xfrm>
            <a:off x="6819900" y="462915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5 类任务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E1DCAEF2-1420-4480-9DDA-5FECFFEA952E}"/>
              </a:ext>
            </a:extLst>
          </p:cNvPr>
          <p:cNvSpPr>
            <a:spLocks noGrp="1"/>
          </p:cNvSpPr>
          <p:nvPr/>
        </p:nvSpPr>
        <p:spPr>
          <a:xfrm>
            <a:off x="6819900" y="512445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规模 / 最高频 / 最强边 / 聚类 / 错误前提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51C86223-F952-4F8F-9928-D4E7DC2C578C}"/>
              </a:ext>
            </a:extLst>
          </p:cNvPr>
          <p:cNvSpPr>
            <a:spLocks noGrp="1"/>
          </p:cNvSpPr>
          <p:nvPr/>
        </p:nvSpPr>
        <p:spPr>
          <a:xfrm>
            <a:off x="10096500" y="4629150"/>
            <a:ext cx="1238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514"/>
          </a:bodyPr>
          <a:lstStyle/>
          <a:p>
            <a:pPr algn="ctr">
              <a:defRPr sz="1350" b="1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+ 35 个 Figure/VLM</a:t>
            </a:r>
          </a:p>
          <a:p>
            <a:pPr algn="ctr">
              <a:defRPr sz="1350" b="1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仅 network-size</a:t>
            </a:r>
          </a:p>
        </p:txBody>
      </p:sp>
    </p:spTree>
    <p:extLst>
      <p:ext uri="{BB962C8B-B14F-4D97-AF65-F5344CB8AC3E}">
        <p14:creationId xmlns:p14="http://schemas.microsoft.com/office/powerpoint/2010/main" val="768532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kicker">
            <a:extLst>
              <a:ext uri="{FF2B5EF4-FFF2-40B4-BE49-F238E27FC236}">
                <a16:creationId xmlns:a16="http://schemas.microsoft.com/office/drawing/2014/main" id="{C47DAD44-C173-4F1E-99B1-612CDC456F4C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CITEWEAVE · FORMAL EXPERIMENTS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DCB0914B-E0B4-46D9-AE11-90FC00DA40D8}"/>
              </a:ext>
            </a:extLst>
          </p:cNvPr>
          <p:cNvSpPr>
            <a:spLocks noGrp="1"/>
          </p:cNvSpPr>
          <p:nvPr/>
        </p:nvSpPr>
        <p:spPr>
          <a:xfrm>
            <a:off x="514350" y="514350"/>
            <a:ext cx="11163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Grounding 必不可少，但图表示没有胜过等信息量扁平证据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0E6321A9-EB85-4E3A-804B-67990F3762A2}"/>
              </a:ext>
            </a:extLst>
          </p:cNvPr>
          <p:cNvSpPr>
            <a:spLocks noGrp="1"/>
          </p:cNvSpPr>
          <p:nvPr/>
        </p:nvSpPr>
        <p:spPr>
          <a:xfrm>
            <a:off x="514350" y="1238250"/>
            <a:ext cx="111633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4A56900A-D9A6-4D86-919C-DEEBD3631870}"/>
              </a:ext>
            </a:extLst>
          </p:cNvPr>
          <p:cNvSpPr>
            <a:spLocks noGrp="1"/>
          </p:cNvSpPr>
          <p:nvPr/>
        </p:nvSpPr>
        <p:spPr>
          <a:xfrm>
            <a:off x="11191875" y="64579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81E21D9F-1BE4-4381-BBA0-73C15512EC0C}"/>
              </a:ext>
            </a:extLst>
          </p:cNvPr>
          <p:cNvSpPr>
            <a:spLocks noGrp="1"/>
          </p:cNvSpPr>
          <p:nvPr/>
        </p:nvSpPr>
        <p:spPr>
          <a:xfrm>
            <a:off x="552450" y="1485900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UCR reduction：对照 UCR − Graph RAG UCR（百分点）</a:t>
            </a:r>
          </a:p>
        </p:txBody>
      </p:sp>
      <p:sp>
        <p:nvSpPr>
          <p:cNvPr id="6" name="rule">
            <a:extLst>
              <a:ext uri="{FF2B5EF4-FFF2-40B4-BE49-F238E27FC236}">
                <a16:creationId xmlns:a16="http://schemas.microsoft.com/office/drawing/2014/main" id="{60ACCD0D-B4B8-4F5C-8FDA-DA0794AC1DCF}"/>
              </a:ext>
            </a:extLst>
          </p:cNvPr>
          <p:cNvSpPr>
            <a:spLocks noGrp="1"/>
          </p:cNvSpPr>
          <p:nvPr/>
        </p:nvSpPr>
        <p:spPr>
          <a:xfrm>
            <a:off x="2000250" y="2076450"/>
            <a:ext cx="9525" cy="33337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08B07708-0143-4373-B231-18B1BDB0839E}"/>
              </a:ext>
            </a:extLst>
          </p:cNvPr>
          <p:cNvSpPr>
            <a:spLocks noGrp="1"/>
          </p:cNvSpPr>
          <p:nvPr/>
        </p:nvSpPr>
        <p:spPr>
          <a:xfrm>
            <a:off x="590550" y="240030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vs No RAG</a:t>
            </a:r>
          </a:p>
        </p:txBody>
      </p:sp>
      <p:sp>
        <p:nvSpPr>
          <p:cNvPr id="8" name="rule">
            <a:extLst>
              <a:ext uri="{FF2B5EF4-FFF2-40B4-BE49-F238E27FC236}">
                <a16:creationId xmlns:a16="http://schemas.microsoft.com/office/drawing/2014/main" id="{EC2C5844-1009-43F4-9B7A-BDA545CB580D}"/>
              </a:ext>
            </a:extLst>
          </p:cNvPr>
          <p:cNvSpPr>
            <a:spLocks noGrp="1"/>
          </p:cNvSpPr>
          <p:nvPr/>
        </p:nvSpPr>
        <p:spPr>
          <a:xfrm>
            <a:off x="1714500" y="2819400"/>
            <a:ext cx="5095875" cy="952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9" name="box">
            <a:extLst>
              <a:ext uri="{FF2B5EF4-FFF2-40B4-BE49-F238E27FC236}">
                <a16:creationId xmlns:a16="http://schemas.microsoft.com/office/drawing/2014/main" id="{0E94EDFD-7198-4E70-BE07-F87ECC4A1852}"/>
              </a:ext>
            </a:extLst>
          </p:cNvPr>
          <p:cNvSpPr>
            <a:spLocks noGrp="1"/>
          </p:cNvSpPr>
          <p:nvPr/>
        </p:nvSpPr>
        <p:spPr>
          <a:xfrm>
            <a:off x="2000250" y="2457450"/>
            <a:ext cx="4486275" cy="3429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315ED0F2-DC5C-4511-A5D4-4E1D923901B1}"/>
              </a:ext>
            </a:extLst>
          </p:cNvPr>
          <p:cNvSpPr>
            <a:spLocks noGrp="1"/>
          </p:cNvSpPr>
          <p:nvPr/>
        </p:nvSpPr>
        <p:spPr>
          <a:xfrm>
            <a:off x="6572250" y="2466975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88.1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FA09DCA5-F28A-406F-8906-4F17DB57E405}"/>
              </a:ext>
            </a:extLst>
          </p:cNvPr>
          <p:cNvSpPr>
            <a:spLocks noGrp="1"/>
          </p:cNvSpPr>
          <p:nvPr/>
        </p:nvSpPr>
        <p:spPr>
          <a:xfrm>
            <a:off x="590550" y="36385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vs Flat</a:t>
            </a:r>
          </a:p>
        </p:txBody>
      </p:sp>
      <p:sp>
        <p:nvSpPr>
          <p:cNvPr id="12" name="rule">
            <a:extLst>
              <a:ext uri="{FF2B5EF4-FFF2-40B4-BE49-F238E27FC236}">
                <a16:creationId xmlns:a16="http://schemas.microsoft.com/office/drawing/2014/main" id="{083CE0A8-0C34-43DB-B4AA-AD4CB4F58AF7}"/>
              </a:ext>
            </a:extLst>
          </p:cNvPr>
          <p:cNvSpPr>
            <a:spLocks noGrp="1"/>
          </p:cNvSpPr>
          <p:nvPr/>
        </p:nvSpPr>
        <p:spPr>
          <a:xfrm>
            <a:off x="1714500" y="4057650"/>
            <a:ext cx="5095875" cy="952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3" name="box">
            <a:extLst>
              <a:ext uri="{FF2B5EF4-FFF2-40B4-BE49-F238E27FC236}">
                <a16:creationId xmlns:a16="http://schemas.microsoft.com/office/drawing/2014/main" id="{67FC4ADE-086F-412D-A820-E0D9AEC2FFC3}"/>
              </a:ext>
            </a:extLst>
          </p:cNvPr>
          <p:cNvSpPr>
            <a:spLocks noGrp="1"/>
          </p:cNvSpPr>
          <p:nvPr/>
        </p:nvSpPr>
        <p:spPr>
          <a:xfrm>
            <a:off x="1962150" y="3695700"/>
            <a:ext cx="38100" cy="342900"/>
          </a:xfrm>
          <a:prstGeom prst="rect">
            <a:avLst/>
          </a:prstGeom>
          <a:solidFill>
            <a:srgbClr val="D94A4A"/>
          </a:solidFill>
          <a:ln w="0">
            <a:noFill/>
            <a:prstDash val="solid"/>
          </a:ln>
        </p:spPr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8F7296D6-EE68-4901-BD05-F43807F6273C}"/>
              </a:ext>
            </a:extLst>
          </p:cNvPr>
          <p:cNvSpPr>
            <a:spLocks noGrp="1"/>
          </p:cNvSpPr>
          <p:nvPr/>
        </p:nvSpPr>
        <p:spPr>
          <a:xfrm>
            <a:off x="2152650" y="3705225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D94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4A4A"/>
                </a:solidFill>
                <a:latin typeface="Microsoft YaHei"/>
                <a:ea typeface="Microsoft YaHei"/>
                <a:cs typeface="Microsoft YaHei"/>
              </a:rPr>
              <a:t>−0.6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8DEAC5C9-AB60-4645-9F53-1FDA5FA78B6E}"/>
              </a:ext>
            </a:extLst>
          </p:cNvPr>
          <p:cNvSpPr>
            <a:spLocks noGrp="1"/>
          </p:cNvSpPr>
          <p:nvPr/>
        </p:nvSpPr>
        <p:spPr>
          <a:xfrm>
            <a:off x="590550" y="487680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vs Figure</a:t>
            </a:r>
          </a:p>
        </p:txBody>
      </p:sp>
      <p:sp>
        <p:nvSpPr>
          <p:cNvPr id="16" name="rule">
            <a:extLst>
              <a:ext uri="{FF2B5EF4-FFF2-40B4-BE49-F238E27FC236}">
                <a16:creationId xmlns:a16="http://schemas.microsoft.com/office/drawing/2014/main" id="{C683ABE4-4EA4-441F-BD62-6C44AD30C630}"/>
              </a:ext>
            </a:extLst>
          </p:cNvPr>
          <p:cNvSpPr>
            <a:spLocks noGrp="1"/>
          </p:cNvSpPr>
          <p:nvPr/>
        </p:nvSpPr>
        <p:spPr>
          <a:xfrm>
            <a:off x="1714500" y="5295900"/>
            <a:ext cx="5095875" cy="952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7" name="box">
            <a:extLst>
              <a:ext uri="{FF2B5EF4-FFF2-40B4-BE49-F238E27FC236}">
                <a16:creationId xmlns:a16="http://schemas.microsoft.com/office/drawing/2014/main" id="{D908D41A-41B7-48F6-90FC-1392C864171F}"/>
              </a:ext>
            </a:extLst>
          </p:cNvPr>
          <p:cNvSpPr>
            <a:spLocks noGrp="1"/>
          </p:cNvSpPr>
          <p:nvPr/>
        </p:nvSpPr>
        <p:spPr>
          <a:xfrm>
            <a:off x="1962150" y="5067300"/>
            <a:ext cx="76200" cy="76200"/>
          </a:xfrm>
          <a:prstGeom prst="rect">
            <a:avLst/>
          </a:prstGeom>
          <a:solidFill>
            <a:srgbClr val="0B0D10"/>
          </a:solidFill>
          <a:ln w="0">
            <a:noFill/>
            <a:prstDash val="solid"/>
          </a:ln>
        </p:spPr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928B392B-4EEC-40D6-ACCA-5125321187A5}"/>
              </a:ext>
            </a:extLst>
          </p:cNvPr>
          <p:cNvSpPr>
            <a:spLocks noGrp="1"/>
          </p:cNvSpPr>
          <p:nvPr/>
        </p:nvSpPr>
        <p:spPr>
          <a:xfrm>
            <a:off x="2152650" y="4943475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0.0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2DD18221-9FE6-4E20-8FED-97BE3CB7EF6E}"/>
              </a:ext>
            </a:extLst>
          </p:cNvPr>
          <p:cNvSpPr>
            <a:spLocks noGrp="1"/>
          </p:cNvSpPr>
          <p:nvPr/>
        </p:nvSpPr>
        <p:spPr>
          <a:xfrm>
            <a:off x="1924050" y="5467350"/>
            <a:ext cx="22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21BF8272-DF24-47D1-9582-3D6706A7C2E6}"/>
              </a:ext>
            </a:extLst>
          </p:cNvPr>
          <p:cNvSpPr>
            <a:spLocks noGrp="1"/>
          </p:cNvSpPr>
          <p:nvPr/>
        </p:nvSpPr>
        <p:spPr>
          <a:xfrm>
            <a:off x="2152650" y="546735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效果量接近 0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77A89587-F7EE-4BB1-B34D-3DA0759927D4}"/>
              </a:ext>
            </a:extLst>
          </p:cNvPr>
          <p:cNvSpPr>
            <a:spLocks noGrp="1"/>
          </p:cNvSpPr>
          <p:nvPr/>
        </p:nvSpPr>
        <p:spPr>
          <a:xfrm>
            <a:off x="8020050" y="16573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怎么解释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15E06C91-7CC6-4907-AEC5-C49B20DF6903}"/>
              </a:ext>
            </a:extLst>
          </p:cNvPr>
          <p:cNvSpPr>
            <a:spLocks noGrp="1"/>
          </p:cNvSpPr>
          <p:nvPr/>
        </p:nvSpPr>
        <p:spPr>
          <a:xfrm>
            <a:off x="8020050" y="2095500"/>
            <a:ext cx="323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15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88.1 pp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3719A0A5-D635-45CE-94AF-305961B4DD03}"/>
              </a:ext>
            </a:extLst>
          </p:cNvPr>
          <p:cNvSpPr>
            <a:spLocks noGrp="1"/>
          </p:cNvSpPr>
          <p:nvPr/>
        </p:nvSpPr>
        <p:spPr>
          <a:xfrm>
            <a:off x="8020050" y="2647950"/>
            <a:ext cx="3238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相对无检索，效果量巨大</a:t>
            </a:r>
          </a:p>
          <a:p>
            <a:pPr algn="l">
              <a:def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95% CI：86.4–89.7 pp</a:t>
            </a:r>
          </a:p>
        </p:txBody>
      </p:sp>
      <p:sp>
        <p:nvSpPr>
          <p:cNvPr id="24" name="rule">
            <a:extLst>
              <a:ext uri="{FF2B5EF4-FFF2-40B4-BE49-F238E27FC236}">
                <a16:creationId xmlns:a16="http://schemas.microsoft.com/office/drawing/2014/main" id="{CF794130-6C45-474B-98F9-4B004364C6BC}"/>
              </a:ext>
            </a:extLst>
          </p:cNvPr>
          <p:cNvSpPr>
            <a:spLocks noGrp="1"/>
          </p:cNvSpPr>
          <p:nvPr/>
        </p:nvSpPr>
        <p:spPr>
          <a:xfrm>
            <a:off x="8020050" y="3505200"/>
            <a:ext cx="32766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BF73AF91-4B2F-4545-8866-B68BA68F83F3}"/>
              </a:ext>
            </a:extLst>
          </p:cNvPr>
          <p:cNvSpPr>
            <a:spLocks noGrp="1"/>
          </p:cNvSpPr>
          <p:nvPr/>
        </p:nvSpPr>
        <p:spPr>
          <a:xfrm>
            <a:off x="8020050" y="3790950"/>
            <a:ext cx="3276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167 / 174 打平</a:t>
            </a:r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AA73AF16-9AC6-4A57-93E3-29B7609E5FA4}"/>
              </a:ext>
            </a:extLst>
          </p:cNvPr>
          <p:cNvSpPr>
            <a:spLocks noGrp="1"/>
          </p:cNvSpPr>
          <p:nvPr/>
        </p:nvSpPr>
        <p:spPr>
          <a:xfrm>
            <a:off x="8020050" y="4286250"/>
            <a:ext cx="3276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Graph RAG vs Flat：没有可靠优势</a:t>
            </a:r>
          </a:p>
        </p:txBody>
      </p:sp>
      <p:sp>
        <p:nvSpPr>
          <p:cNvPr id="27" name="box">
            <a:extLst>
              <a:ext uri="{FF2B5EF4-FFF2-40B4-BE49-F238E27FC236}">
                <a16:creationId xmlns:a16="http://schemas.microsoft.com/office/drawing/2014/main" id="{D56F8BCA-FA61-4FAF-95A3-8458A197DAAC}"/>
              </a:ext>
            </a:extLst>
          </p:cNvPr>
          <p:cNvSpPr>
            <a:spLocks noGrp="1"/>
          </p:cNvSpPr>
          <p:nvPr/>
        </p:nvSpPr>
        <p:spPr>
          <a:xfrm>
            <a:off x="7829550" y="5029200"/>
            <a:ext cx="3657600" cy="800100"/>
          </a:xfrm>
          <a:prstGeom prst="rect">
            <a:avLst/>
          </a:prstGeom>
          <a:solidFill>
            <a:srgbClr val="F6F7F9"/>
          </a:solidFill>
          <a:ln w="0">
            <a:noFill/>
            <a:prstDash val="solid"/>
          </a:ln>
        </p:spPr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FBFED4C1-E79C-46F9-9465-33168ED032B5}"/>
              </a:ext>
            </a:extLst>
          </p:cNvPr>
          <p:cNvSpPr>
            <a:spLocks noGrp="1"/>
          </p:cNvSpPr>
          <p:nvPr/>
        </p:nvSpPr>
        <p:spPr>
          <a:xfrm>
            <a:off x="8020050" y="520065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D94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94A4A"/>
                </a:solidFill>
                <a:latin typeface="Microsoft YaHei"/>
                <a:ea typeface="Microsoft YaHei"/>
                <a:cs typeface="Microsoft YaHei"/>
              </a:rPr>
              <a:t>Holm-adjusted p = 0.0938</a:t>
            </a:r>
          </a:p>
        </p:txBody>
      </p:sp>
      <p:sp>
        <p:nvSpPr>
          <p:cNvPr id="29" name="text">
            <a:extLst>
              <a:ext uri="{FF2B5EF4-FFF2-40B4-BE49-F238E27FC236}">
                <a16:creationId xmlns:a16="http://schemas.microsoft.com/office/drawing/2014/main" id="{31FB1B10-02DE-4487-BD10-47FC09B2931C}"/>
              </a:ext>
            </a:extLst>
          </p:cNvPr>
          <p:cNvSpPr>
            <a:spLocks noGrp="1"/>
          </p:cNvSpPr>
          <p:nvPr/>
        </p:nvSpPr>
        <p:spPr>
          <a:xfrm>
            <a:off x="8020050" y="5524500"/>
            <a:ext cx="3276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多重校正后未达到 0.05</a:t>
            </a:r>
          </a:p>
        </p:txBody>
      </p:sp>
    </p:spTree>
    <p:extLst>
      <p:ext uri="{BB962C8B-B14F-4D97-AF65-F5344CB8AC3E}">
        <p14:creationId xmlns:p14="http://schemas.microsoft.com/office/powerpoint/2010/main" val="546417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kicker">
            <a:extLst>
              <a:ext uri="{FF2B5EF4-FFF2-40B4-BE49-F238E27FC236}">
                <a16:creationId xmlns:a16="http://schemas.microsoft.com/office/drawing/2014/main" id="{A1827314-D56C-4D76-AD24-7789FEB01D61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CITEWEAVE · FORMAL EXPERIMENTS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8413DA50-879B-4389-B560-45590359E051}"/>
              </a:ext>
            </a:extLst>
          </p:cNvPr>
          <p:cNvSpPr>
            <a:spLocks noGrp="1"/>
          </p:cNvSpPr>
          <p:nvPr/>
        </p:nvSpPr>
        <p:spPr>
          <a:xfrm>
            <a:off x="514350" y="514350"/>
            <a:ext cx="11163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自适应审核减少人工请求，但尚未达到生产安全门槛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4BC9A8CD-EA39-4603-BC21-BF95973B4789}"/>
              </a:ext>
            </a:extLst>
          </p:cNvPr>
          <p:cNvSpPr>
            <a:spLocks noGrp="1"/>
          </p:cNvSpPr>
          <p:nvPr/>
        </p:nvSpPr>
        <p:spPr>
          <a:xfrm>
            <a:off x="514350" y="1238250"/>
            <a:ext cx="111633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010DC625-96E0-4373-9E2C-5F035D816E04}"/>
              </a:ext>
            </a:extLst>
          </p:cNvPr>
          <p:cNvSpPr>
            <a:spLocks noGrp="1"/>
          </p:cNvSpPr>
          <p:nvPr/>
        </p:nvSpPr>
        <p:spPr>
          <a:xfrm>
            <a:off x="11191875" y="64579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="476250" y="1638300"/>
          <a:ext cx="6858000" cy="409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">
            <a:extLst>
              <a:ext uri="{FF2B5EF4-FFF2-40B4-BE49-F238E27FC236}">
                <a16:creationId xmlns:a16="http://schemas.microsoft.com/office/drawing/2014/main" id="{75735276-B43B-499C-A978-C8A3E7051AB7}"/>
              </a:ext>
            </a:extLst>
          </p:cNvPr>
          <p:cNvSpPr>
            <a:spLocks noGrp="1"/>
          </p:cNvSpPr>
          <p:nvPr/>
        </p:nvSpPr>
        <p:spPr>
          <a:xfrm>
            <a:off x="7981950" y="16573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观察到的收益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42630FF0-57E3-4467-9689-63F087143CD8}"/>
              </a:ext>
            </a:extLst>
          </p:cNvPr>
          <p:cNvSpPr>
            <a:spLocks noGrp="1"/>
          </p:cNvSpPr>
          <p:nvPr/>
        </p:nvSpPr>
        <p:spPr>
          <a:xfrm>
            <a:off x="7981950" y="2038350"/>
            <a:ext cx="333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15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−44.4 pp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4D79F0BD-EDC5-45EA-9BA4-30455BA1E7CD}"/>
              </a:ext>
            </a:extLst>
          </p:cNvPr>
          <p:cNvSpPr>
            <a:spLocks noGrp="1"/>
          </p:cNvSpPr>
          <p:nvPr/>
        </p:nvSpPr>
        <p:spPr>
          <a:xfrm>
            <a:off x="7981950" y="2628900"/>
            <a:ext cx="3333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Adaptive 相对 Always-review</a:t>
            </a:r>
          </a:p>
          <a:p>
            <a:pPr algn="l">
              <a:def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减少审核请求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A27C1A52-041E-41C4-BF01-3A846FF3C271}"/>
              </a:ext>
            </a:extLst>
          </p:cNvPr>
          <p:cNvSpPr>
            <a:spLocks noGrp="1"/>
          </p:cNvSpPr>
          <p:nvPr/>
        </p:nvSpPr>
        <p:spPr>
          <a:xfrm>
            <a:off x="7981950" y="3486150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98F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98F6E"/>
                </a:solidFill>
                <a:latin typeface="Microsoft YaHei"/>
                <a:ea typeface="Microsoft YaHei"/>
                <a:cs typeface="Microsoft YaHei"/>
              </a:rPr>
              <a:t>0 / 16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19B7B28B-F2F9-42CD-854B-B1B7BC5B480E}"/>
              </a:ext>
            </a:extLst>
          </p:cNvPr>
          <p:cNvSpPr>
            <a:spLocks noGrp="1"/>
          </p:cNvSpPr>
          <p:nvPr/>
        </p:nvSpPr>
        <p:spPr>
          <a:xfrm>
            <a:off x="7981950" y="401955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自动放行项中未观察到错误</a:t>
            </a:r>
          </a:p>
        </p:txBody>
      </p:sp>
      <p:sp>
        <p:nvSpPr>
          <p:cNvPr id="11" name="box">
            <a:extLst>
              <a:ext uri="{FF2B5EF4-FFF2-40B4-BE49-F238E27FC236}">
                <a16:creationId xmlns:a16="http://schemas.microsoft.com/office/drawing/2014/main" id="{309EC3D5-1D6D-4421-B22D-B0F1486CB43D}"/>
              </a:ext>
            </a:extLst>
          </p:cNvPr>
          <p:cNvSpPr>
            <a:spLocks noGrp="1"/>
          </p:cNvSpPr>
          <p:nvPr/>
        </p:nvSpPr>
        <p:spPr>
          <a:xfrm>
            <a:off x="7791450" y="4686300"/>
            <a:ext cx="3714750" cy="1066800"/>
          </a:xfrm>
          <a:prstGeom prst="rect">
            <a:avLst/>
          </a:prstGeom>
          <a:solidFill>
            <a:srgbClr val="F6F7F9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40829F0F-519F-4F85-A4B4-ABDD22DC0807}"/>
              </a:ext>
            </a:extLst>
          </p:cNvPr>
          <p:cNvSpPr>
            <a:spLocks noGrp="1"/>
          </p:cNvSpPr>
          <p:nvPr/>
        </p:nvSpPr>
        <p:spPr>
          <a:xfrm>
            <a:off x="8001000" y="4895850"/>
            <a:ext cx="3295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D94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4A4A"/>
                </a:solidFill>
                <a:latin typeface="Microsoft YaHei"/>
                <a:ea typeface="Microsoft YaHei"/>
                <a:cs typeface="Microsoft YaHei"/>
              </a:rPr>
              <a:t>95% 单侧精度下界 ≈ 0.829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0E228221-AFCF-4658-ACD7-451E1960BEAD}"/>
              </a:ext>
            </a:extLst>
          </p:cNvPr>
          <p:cNvSpPr>
            <a:spLocks noGrp="1"/>
          </p:cNvSpPr>
          <p:nvPr/>
        </p:nvSpPr>
        <p:spPr>
          <a:xfrm>
            <a:off x="8001000" y="5314950"/>
            <a:ext cx="3295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低于预设 0.95；若零错误，至少需 59 项</a:t>
            </a:r>
          </a:p>
        </p:txBody>
      </p:sp>
    </p:spTree>
    <p:extLst>
      <p:ext uri="{BB962C8B-B14F-4D97-AF65-F5344CB8AC3E}">
        <p14:creationId xmlns:p14="http://schemas.microsoft.com/office/powerpoint/2010/main" val="199542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kicker">
            <a:extLst>
              <a:ext uri="{FF2B5EF4-FFF2-40B4-BE49-F238E27FC236}">
                <a16:creationId xmlns:a16="http://schemas.microsoft.com/office/drawing/2014/main" id="{06AE2EA8-F835-44CC-A702-44F07AD77562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CITEWEAVE · FORMAL EXPERIMENTS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861EA5A-9416-41FA-B67D-343D63EBC0D9}"/>
              </a:ext>
            </a:extLst>
          </p:cNvPr>
          <p:cNvSpPr>
            <a:spLocks noGrp="1"/>
          </p:cNvSpPr>
          <p:nvPr/>
        </p:nvSpPr>
        <p:spPr>
          <a:xfrm>
            <a:off x="514350" y="514350"/>
            <a:ext cx="11163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可靠性提升来自流程和 Grounding，而非‘图’本身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E479ACBC-0F89-43AD-8001-C9028F20B8B2}"/>
              </a:ext>
            </a:extLst>
          </p:cNvPr>
          <p:cNvSpPr>
            <a:spLocks noGrp="1"/>
          </p:cNvSpPr>
          <p:nvPr/>
        </p:nvSpPr>
        <p:spPr>
          <a:xfrm>
            <a:off x="514350" y="1238250"/>
            <a:ext cx="111633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59907382-6F8F-4C1C-A6A7-BE261AE7436A}"/>
              </a:ext>
            </a:extLst>
          </p:cNvPr>
          <p:cNvSpPr>
            <a:spLocks noGrp="1"/>
          </p:cNvSpPr>
          <p:nvPr/>
        </p:nvSpPr>
        <p:spPr>
          <a:xfrm>
            <a:off x="11191875" y="64579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A1A6C059-92FE-49D9-900A-35F791EB3337}"/>
              </a:ext>
            </a:extLst>
          </p:cNvPr>
          <p:cNvSpPr>
            <a:spLocks noGrp="1"/>
          </p:cNvSpPr>
          <p:nvPr/>
        </p:nvSpPr>
        <p:spPr>
          <a:xfrm>
            <a:off x="514350" y="158115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2E844E48-1110-4AAC-A7DE-81DFE6318DAF}"/>
              </a:ext>
            </a:extLst>
          </p:cNvPr>
          <p:cNvSpPr>
            <a:spLocks noGrp="1"/>
          </p:cNvSpPr>
          <p:nvPr/>
        </p:nvSpPr>
        <p:spPr>
          <a:xfrm>
            <a:off x="1257300" y="158115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多阶段生成有效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1E0192C3-B42C-4840-8500-C5D8B549A53E}"/>
              </a:ext>
            </a:extLst>
          </p:cNvPr>
          <p:cNvSpPr>
            <a:spLocks noGrp="1"/>
          </p:cNvSpPr>
          <p:nvPr/>
        </p:nvSpPr>
        <p:spPr>
          <a:xfrm>
            <a:off x="4095750" y="1581150"/>
            <a:ext cx="3905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内部审阅把 One-shot 的 UCR 从 8.3% 降到 1.7%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BA2F649F-5FD1-41FE-B55A-4A6DF1A702D1}"/>
              </a:ext>
            </a:extLst>
          </p:cNvPr>
          <p:cNvSpPr>
            <a:spLocks noGrp="1"/>
          </p:cNvSpPr>
          <p:nvPr/>
        </p:nvSpPr>
        <p:spPr>
          <a:xfrm>
            <a:off x="8305800" y="1581150"/>
            <a:ext cx="3238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继续保留分阶段生成与声明—证据绑定</a:t>
            </a:r>
          </a:p>
        </p:txBody>
      </p:sp>
      <p:sp>
        <p:nvSpPr>
          <p:cNvPr id="9" name="rule">
            <a:extLst>
              <a:ext uri="{FF2B5EF4-FFF2-40B4-BE49-F238E27FC236}">
                <a16:creationId xmlns:a16="http://schemas.microsoft.com/office/drawing/2014/main" id="{DBF4A2D5-4FFD-40FD-B868-D4332853DB08}"/>
              </a:ext>
            </a:extLst>
          </p:cNvPr>
          <p:cNvSpPr>
            <a:spLocks noGrp="1"/>
          </p:cNvSpPr>
          <p:nvPr/>
        </p:nvSpPr>
        <p:spPr>
          <a:xfrm>
            <a:off x="514350" y="2362200"/>
            <a:ext cx="11029950" cy="952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C1EE6839-B314-4492-A725-9077D7CFE761}"/>
              </a:ext>
            </a:extLst>
          </p:cNvPr>
          <p:cNvSpPr>
            <a:spLocks noGrp="1"/>
          </p:cNvSpPr>
          <p:nvPr/>
        </p:nvSpPr>
        <p:spPr>
          <a:xfrm>
            <a:off x="514350" y="2657475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ED7E5B07-EB9B-4E05-8CD8-AEB52C8BC3EB}"/>
              </a:ext>
            </a:extLst>
          </p:cNvPr>
          <p:cNvSpPr>
            <a:spLocks noGrp="1"/>
          </p:cNvSpPr>
          <p:nvPr/>
        </p:nvSpPr>
        <p:spPr>
          <a:xfrm>
            <a:off x="1257300" y="2657475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Grounding 必不可少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095C1DF0-BADC-4C80-AE55-F2E53170D8AC}"/>
              </a:ext>
            </a:extLst>
          </p:cNvPr>
          <p:cNvSpPr>
            <a:spLocks noGrp="1"/>
          </p:cNvSpPr>
          <p:nvPr/>
        </p:nvSpPr>
        <p:spPr>
          <a:xfrm>
            <a:off x="4095750" y="2657475"/>
            <a:ext cx="3905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Graph RAG 相对 No RAG 的 UCR 降低 88.1 pp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7050BB42-C436-4314-80A1-B56F6B7F5E47}"/>
              </a:ext>
            </a:extLst>
          </p:cNvPr>
          <p:cNvSpPr>
            <a:spLocks noGrp="1"/>
          </p:cNvSpPr>
          <p:nvPr/>
        </p:nvSpPr>
        <p:spPr>
          <a:xfrm>
            <a:off x="8305800" y="2657475"/>
            <a:ext cx="3238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无证据生成不适合作为正式分析输出</a:t>
            </a:r>
          </a:p>
        </p:txBody>
      </p:sp>
      <p:sp>
        <p:nvSpPr>
          <p:cNvPr id="14" name="rule">
            <a:extLst>
              <a:ext uri="{FF2B5EF4-FFF2-40B4-BE49-F238E27FC236}">
                <a16:creationId xmlns:a16="http://schemas.microsoft.com/office/drawing/2014/main" id="{81B71605-88F1-4780-AF2D-26D3F96CE889}"/>
              </a:ext>
            </a:extLst>
          </p:cNvPr>
          <p:cNvSpPr>
            <a:spLocks noGrp="1"/>
          </p:cNvSpPr>
          <p:nvPr/>
        </p:nvSpPr>
        <p:spPr>
          <a:xfrm>
            <a:off x="514350" y="3438525"/>
            <a:ext cx="11029950" cy="952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C5A3BE78-510A-440A-AC80-1AC9C82B0E15}"/>
              </a:ext>
            </a:extLst>
          </p:cNvPr>
          <p:cNvSpPr>
            <a:spLocks noGrp="1"/>
          </p:cNvSpPr>
          <p:nvPr/>
        </p:nvSpPr>
        <p:spPr>
          <a:xfrm>
            <a:off x="514350" y="373380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09D60F50-BF85-490D-B75E-AC12619AA461}"/>
              </a:ext>
            </a:extLst>
          </p:cNvPr>
          <p:cNvSpPr>
            <a:spLocks noGrp="1"/>
          </p:cNvSpPr>
          <p:nvPr/>
        </p:nvSpPr>
        <p:spPr>
          <a:xfrm>
            <a:off x="1257300" y="373380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图的独特价值未被证明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87F23F5A-95D1-4C81-964E-9CC60680212A}"/>
              </a:ext>
            </a:extLst>
          </p:cNvPr>
          <p:cNvSpPr>
            <a:spLocks noGrp="1"/>
          </p:cNvSpPr>
          <p:nvPr/>
        </p:nvSpPr>
        <p:spPr>
          <a:xfrm>
            <a:off x="4095750" y="3733800"/>
            <a:ext cx="3905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Graph RAG 与 Flat 几乎全平；Figure 只覆盖规模题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D98334B4-8F84-4A9D-815E-992BFF57DEB6}"/>
              </a:ext>
            </a:extLst>
          </p:cNvPr>
          <p:cNvSpPr>
            <a:spLocks noGrp="1"/>
          </p:cNvSpPr>
          <p:nvPr/>
        </p:nvSpPr>
        <p:spPr>
          <a:xfrm>
            <a:off x="8305800" y="3733800"/>
            <a:ext cx="3238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下一轮应增加多跳、路径与跨社区问题</a:t>
            </a:r>
          </a:p>
        </p:txBody>
      </p:sp>
      <p:sp>
        <p:nvSpPr>
          <p:cNvPr id="19" name="rule">
            <a:extLst>
              <a:ext uri="{FF2B5EF4-FFF2-40B4-BE49-F238E27FC236}">
                <a16:creationId xmlns:a16="http://schemas.microsoft.com/office/drawing/2014/main" id="{8D3CF9D4-C306-4594-91BB-BA8D1AEB4C95}"/>
              </a:ext>
            </a:extLst>
          </p:cNvPr>
          <p:cNvSpPr>
            <a:spLocks noGrp="1"/>
          </p:cNvSpPr>
          <p:nvPr/>
        </p:nvSpPr>
        <p:spPr>
          <a:xfrm>
            <a:off x="514350" y="4514850"/>
            <a:ext cx="11029950" cy="952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3E378065-CB94-4817-A875-49019603DC3B}"/>
              </a:ext>
            </a:extLst>
          </p:cNvPr>
          <p:cNvSpPr>
            <a:spLocks noGrp="1"/>
          </p:cNvSpPr>
          <p:nvPr/>
        </p:nvSpPr>
        <p:spPr>
          <a:xfrm>
            <a:off x="514350" y="4810125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859CAABF-DC44-49FD-B172-0E3F1290E203}"/>
              </a:ext>
            </a:extLst>
          </p:cNvPr>
          <p:cNvSpPr>
            <a:spLocks noGrp="1"/>
          </p:cNvSpPr>
          <p:nvPr/>
        </p:nvSpPr>
        <p:spPr>
          <a:xfrm>
            <a:off x="1257300" y="4810125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865"/>
          </a:bodyPr>
          <a:lstStyle/>
          <a:p>
            <a:pPr algn="l">
              <a:defRPr sz="18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Adaptive 有潜力但证据不足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B9325A52-045A-4AE1-8A8E-70562B36B542}"/>
              </a:ext>
            </a:extLst>
          </p:cNvPr>
          <p:cNvSpPr>
            <a:spLocks noGrp="1"/>
          </p:cNvSpPr>
          <p:nvPr/>
        </p:nvSpPr>
        <p:spPr>
          <a:xfrm>
            <a:off x="4095750" y="4810125"/>
            <a:ext cx="3905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审核率下降，质量仅提高 2.8 pp，置信下界未过门槛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D60E1461-07A4-4BD0-A090-37C4AFAFA1FF}"/>
              </a:ext>
            </a:extLst>
          </p:cNvPr>
          <p:cNvSpPr>
            <a:spLocks noGrp="1"/>
          </p:cNvSpPr>
          <p:nvPr/>
        </p:nvSpPr>
        <p:spPr>
          <a:xfrm>
            <a:off x="8305800" y="4810125"/>
            <a:ext cx="3238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优先扩样与真实用户验证，而非只优化阈值</a:t>
            </a:r>
          </a:p>
        </p:txBody>
      </p:sp>
      <p:sp>
        <p:nvSpPr>
          <p:cNvPr id="24" name="rule">
            <a:extLst>
              <a:ext uri="{FF2B5EF4-FFF2-40B4-BE49-F238E27FC236}">
                <a16:creationId xmlns:a16="http://schemas.microsoft.com/office/drawing/2014/main" id="{8ACD4B6C-7A86-4600-962F-077461D6EA06}"/>
              </a:ext>
            </a:extLst>
          </p:cNvPr>
          <p:cNvSpPr>
            <a:spLocks noGrp="1"/>
          </p:cNvSpPr>
          <p:nvPr/>
        </p:nvSpPr>
        <p:spPr>
          <a:xfrm>
            <a:off x="514350" y="5591175"/>
            <a:ext cx="11029950" cy="952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84901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kicker">
            <a:extLst>
              <a:ext uri="{FF2B5EF4-FFF2-40B4-BE49-F238E27FC236}">
                <a16:creationId xmlns:a16="http://schemas.microsoft.com/office/drawing/2014/main" id="{2978FF61-3EC9-446A-BED6-BA3143DC0463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CITEWEAVE · FORMAL EXPERIMENTS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DC843CF3-E3BB-4A92-B375-CB6347154C25}"/>
              </a:ext>
            </a:extLst>
          </p:cNvPr>
          <p:cNvSpPr>
            <a:spLocks noGrp="1"/>
          </p:cNvSpPr>
          <p:nvPr/>
        </p:nvSpPr>
        <p:spPr>
          <a:xfrm>
            <a:off x="514350" y="514350"/>
            <a:ext cx="11163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当前证据的主要短板是统计功效、外部效度和比较口径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9296A333-D336-478E-8976-0F9ADA48ADA2}"/>
              </a:ext>
            </a:extLst>
          </p:cNvPr>
          <p:cNvSpPr>
            <a:spLocks noGrp="1"/>
          </p:cNvSpPr>
          <p:nvPr/>
        </p:nvSpPr>
        <p:spPr>
          <a:xfrm>
            <a:off x="514350" y="1238250"/>
            <a:ext cx="111633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7DE7D1CD-D644-43CD-B39A-B3A246404843}"/>
              </a:ext>
            </a:extLst>
          </p:cNvPr>
          <p:cNvSpPr>
            <a:spLocks noGrp="1"/>
          </p:cNvSpPr>
          <p:nvPr/>
        </p:nvSpPr>
        <p:spPr>
          <a:xfrm>
            <a:off x="11191875" y="64579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513CC7B6-975A-4C4C-A105-1A0DE6F3F642}"/>
              </a:ext>
            </a:extLst>
          </p:cNvPr>
          <p:cNvSpPr>
            <a:spLocks noGrp="1"/>
          </p:cNvSpPr>
          <p:nvPr/>
        </p:nvSpPr>
        <p:spPr>
          <a:xfrm>
            <a:off x="514350" y="16192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统计与测量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4FB9039E-7B16-4E65-B9D1-D51AE13E61C1}"/>
              </a:ext>
            </a:extLst>
          </p:cNvPr>
          <p:cNvSpPr>
            <a:spLocks noGrp="1"/>
          </p:cNvSpPr>
          <p:nvPr/>
        </p:nvSpPr>
        <p:spPr>
          <a:xfrm>
            <a:off x="514350" y="2076450"/>
            <a:ext cx="476250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• 独立统计单元只有 6 个主题</a:t>
            </a:r>
          </a:p>
          <a:p>
            <a:endParaRPr sz="1650" b="0">
              <a:solidFill>
                <a:srgbClr val="0B0D10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650" b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• Graph 主比较经 Holm 校正未显著</a:t>
            </a:r>
          </a:p>
          <a:p>
            <a:endParaRPr sz="1650" b="0">
              <a:solidFill>
                <a:srgbClr val="0B0D10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650" b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• Adaptive 自动放行仅 16 项</a:t>
            </a:r>
          </a:p>
          <a:p>
            <a:endParaRPr sz="1650" b="0">
              <a:solidFill>
                <a:srgbClr val="0B0D10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650" b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• LLM-as-Judge 仍可能有模型偏差</a:t>
            </a:r>
          </a:p>
        </p:txBody>
      </p:sp>
      <p:sp>
        <p:nvSpPr>
          <p:cNvPr id="7" name="rule">
            <a:extLst>
              <a:ext uri="{FF2B5EF4-FFF2-40B4-BE49-F238E27FC236}">
                <a16:creationId xmlns:a16="http://schemas.microsoft.com/office/drawing/2014/main" id="{13E75B63-4FF8-4E5E-9841-6FD97DF10A23}"/>
              </a:ext>
            </a:extLst>
          </p:cNvPr>
          <p:cNvSpPr>
            <a:spLocks noGrp="1"/>
          </p:cNvSpPr>
          <p:nvPr/>
        </p:nvSpPr>
        <p:spPr>
          <a:xfrm>
            <a:off x="5905500" y="1600200"/>
            <a:ext cx="9525" cy="40957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AE80FB4F-D420-4C26-B2AB-7BA19279A04E}"/>
              </a:ext>
            </a:extLst>
          </p:cNvPr>
          <p:cNvSpPr>
            <a:spLocks noGrp="1"/>
          </p:cNvSpPr>
          <p:nvPr/>
        </p:nvSpPr>
        <p:spPr>
          <a:xfrm>
            <a:off x="6496050" y="16192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外部效度与口径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EA32CDFD-49AC-4187-BCCC-8423D63EADBA}"/>
              </a:ext>
            </a:extLst>
          </p:cNvPr>
          <p:cNvSpPr>
            <a:spLocks noGrp="1"/>
          </p:cNvSpPr>
          <p:nvPr/>
        </p:nvSpPr>
        <p:spPr>
          <a:xfrm>
            <a:off x="6496050" y="2076450"/>
            <a:ext cx="495300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• Human reference 是同主题参照，不是同语料复现</a:t>
            </a:r>
          </a:p>
          <a:p>
            <a:endParaRPr sz="1650" b="0">
              <a:solidFill>
                <a:srgbClr val="0B0D10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650" b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• Human Proxy 不能代表真实研究者</a:t>
            </a:r>
          </a:p>
          <a:p>
            <a:endParaRPr sz="1650" b="0">
              <a:solidFill>
                <a:srgbClr val="0B0D10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650" b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• Figure/VLM 是跨模型、且只测 network-size</a:t>
            </a:r>
          </a:p>
          <a:p>
            <a:endParaRPr sz="1650" b="0">
              <a:solidFill>
                <a:srgbClr val="0B0D10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650" b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• 在线数据库与模型无法长期保证字节级复现</a:t>
            </a:r>
          </a:p>
        </p:txBody>
      </p:sp>
      <p:sp>
        <p:nvSpPr>
          <p:cNvPr id="10" name="box">
            <a:extLst>
              <a:ext uri="{FF2B5EF4-FFF2-40B4-BE49-F238E27FC236}">
                <a16:creationId xmlns:a16="http://schemas.microsoft.com/office/drawing/2014/main" id="{5E39A184-ED58-4185-82C9-9BAABEA2C7D2}"/>
              </a:ext>
            </a:extLst>
          </p:cNvPr>
          <p:cNvSpPr>
            <a:spLocks noGrp="1"/>
          </p:cNvSpPr>
          <p:nvPr/>
        </p:nvSpPr>
        <p:spPr>
          <a:xfrm>
            <a:off x="514350" y="5353050"/>
            <a:ext cx="10934700" cy="590550"/>
          </a:xfrm>
          <a:prstGeom prst="rect">
            <a:avLst/>
          </a:prstGeom>
          <a:solidFill>
            <a:srgbClr val="F6F7F9"/>
          </a:solidFill>
          <a:ln w="0">
            <a:noFill/>
            <a:prstDash val="solid"/>
          </a:ln>
        </p:spPr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9B260FFC-D7D9-4CE0-8C55-3E69A937280F}"/>
              </a:ext>
            </a:extLst>
          </p:cNvPr>
          <p:cNvSpPr>
            <a:spLocks noGrp="1"/>
          </p:cNvSpPr>
          <p:nvPr/>
        </p:nvSpPr>
        <p:spPr>
          <a:xfrm>
            <a:off x="723900" y="5524500"/>
            <a:ext cx="10534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因此：可以主张‘流程更可靠’，暂不能主张‘普遍超过人类’或‘已达到生产安全’。</a:t>
            </a:r>
          </a:p>
        </p:txBody>
      </p:sp>
    </p:spTree>
    <p:extLst>
      <p:ext uri="{BB962C8B-B14F-4D97-AF65-F5344CB8AC3E}">
        <p14:creationId xmlns:p14="http://schemas.microsoft.com/office/powerpoint/2010/main" val="2077646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kicker">
            <a:extLst>
              <a:ext uri="{FF2B5EF4-FFF2-40B4-BE49-F238E27FC236}">
                <a16:creationId xmlns:a16="http://schemas.microsoft.com/office/drawing/2014/main" id="{4E7CB161-D0EC-4EB1-A375-AF6613E1E16D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CITEWEAVE · FORMAL EXPERIMENTS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1FFB028-1ACF-4C21-A68D-84289BBE156C}"/>
              </a:ext>
            </a:extLst>
          </p:cNvPr>
          <p:cNvSpPr>
            <a:spLocks noGrp="1"/>
          </p:cNvSpPr>
          <p:nvPr/>
        </p:nvSpPr>
        <p:spPr>
          <a:xfrm>
            <a:off x="514350" y="514350"/>
            <a:ext cx="11163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0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下一阶段优先补齐证据强度，再扩展系统能力与论文叙事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58EAFE9C-9387-4593-A636-B615B6E5A6F9}"/>
              </a:ext>
            </a:extLst>
          </p:cNvPr>
          <p:cNvSpPr>
            <a:spLocks noGrp="1"/>
          </p:cNvSpPr>
          <p:nvPr/>
        </p:nvSpPr>
        <p:spPr>
          <a:xfrm>
            <a:off x="514350" y="1238250"/>
            <a:ext cx="111633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DE3C0E5A-DB46-42CF-B194-DE732A019509}"/>
              </a:ext>
            </a:extLst>
          </p:cNvPr>
          <p:cNvSpPr>
            <a:spLocks noGrp="1"/>
          </p:cNvSpPr>
          <p:nvPr/>
        </p:nvSpPr>
        <p:spPr>
          <a:xfrm>
            <a:off x="11191875" y="64579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rule">
            <a:extLst>
              <a:ext uri="{FF2B5EF4-FFF2-40B4-BE49-F238E27FC236}">
                <a16:creationId xmlns:a16="http://schemas.microsoft.com/office/drawing/2014/main" id="{2F3B4362-EDF3-4675-805A-FFCC96375B7E}"/>
              </a:ext>
            </a:extLst>
          </p:cNvPr>
          <p:cNvSpPr>
            <a:spLocks noGrp="1"/>
          </p:cNvSpPr>
          <p:nvPr/>
        </p:nvSpPr>
        <p:spPr>
          <a:xfrm>
            <a:off x="1619250" y="2895600"/>
            <a:ext cx="89535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6" name="box">
            <a:extLst>
              <a:ext uri="{FF2B5EF4-FFF2-40B4-BE49-F238E27FC236}">
                <a16:creationId xmlns:a16="http://schemas.microsoft.com/office/drawing/2014/main" id="{A51BCE60-6EB2-4DD6-A764-4C6BBDC5A439}"/>
              </a:ext>
            </a:extLst>
          </p:cNvPr>
          <p:cNvSpPr>
            <a:spLocks noGrp="1"/>
          </p:cNvSpPr>
          <p:nvPr/>
        </p:nvSpPr>
        <p:spPr>
          <a:xfrm>
            <a:off x="2009775" y="2819400"/>
            <a:ext cx="171450" cy="1714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51F33CD-2F21-4C2D-915A-B0832B7594D2}"/>
              </a:ext>
            </a:extLst>
          </p:cNvPr>
          <p:cNvSpPr>
            <a:spLocks noGrp="1"/>
          </p:cNvSpPr>
          <p:nvPr/>
        </p:nvSpPr>
        <p:spPr>
          <a:xfrm>
            <a:off x="666750" y="15811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短期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BD35402F-8747-415E-A216-34011464C7B5}"/>
              </a:ext>
            </a:extLst>
          </p:cNvPr>
          <p:cNvSpPr>
            <a:spLocks noGrp="1"/>
          </p:cNvSpPr>
          <p:nvPr/>
        </p:nvSpPr>
        <p:spPr>
          <a:xfrm>
            <a:off x="476250" y="1943100"/>
            <a:ext cx="323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95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补统计功效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F3687E64-751F-466A-8533-BC6E9B312C57}"/>
              </a:ext>
            </a:extLst>
          </p:cNvPr>
          <p:cNvSpPr>
            <a:spLocks noGrp="1"/>
          </p:cNvSpPr>
          <p:nvPr/>
        </p:nvSpPr>
        <p:spPr>
          <a:xfrm>
            <a:off x="495300" y="3257550"/>
            <a:ext cx="32004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扩展锁定主题</a:t>
            </a:r>
          </a:p>
          <a:p>
            <a:pPr algn="ctr">
              <a:def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扩大自动放行审计</a:t>
            </a:r>
          </a:p>
          <a:p>
            <a:pPr algn="ctr">
              <a:def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若零错误，≥59 项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78BB0836-92B3-4FE2-9B6D-7B33D5FCCE41}"/>
              </a:ext>
            </a:extLst>
          </p:cNvPr>
          <p:cNvSpPr>
            <a:spLocks noGrp="1"/>
          </p:cNvSpPr>
          <p:nvPr/>
        </p:nvSpPr>
        <p:spPr>
          <a:xfrm>
            <a:off x="495300" y="4552950"/>
            <a:ext cx="320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门槛：置信下界 ≥0.95</a:t>
            </a:r>
          </a:p>
        </p:txBody>
      </p:sp>
      <p:sp>
        <p:nvSpPr>
          <p:cNvPr id="11" name="box">
            <a:extLst>
              <a:ext uri="{FF2B5EF4-FFF2-40B4-BE49-F238E27FC236}">
                <a16:creationId xmlns:a16="http://schemas.microsoft.com/office/drawing/2014/main" id="{FE25258C-0629-426A-A96F-B8C2349F555F}"/>
              </a:ext>
            </a:extLst>
          </p:cNvPr>
          <p:cNvSpPr>
            <a:spLocks noGrp="1"/>
          </p:cNvSpPr>
          <p:nvPr/>
        </p:nvSpPr>
        <p:spPr>
          <a:xfrm>
            <a:off x="6010275" y="2819400"/>
            <a:ext cx="171450" cy="171450"/>
          </a:xfrm>
          <a:prstGeom prst="rect">
            <a:avLst/>
          </a:prstGeom>
          <a:solidFill>
            <a:srgbClr val="0B0D10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4A81FE17-CF5A-4411-8759-6603CB473833}"/>
              </a:ext>
            </a:extLst>
          </p:cNvPr>
          <p:cNvSpPr>
            <a:spLocks noGrp="1"/>
          </p:cNvSpPr>
          <p:nvPr/>
        </p:nvSpPr>
        <p:spPr>
          <a:xfrm>
            <a:off x="4667250" y="15811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中期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9407ACE5-84B2-457D-830D-590AD5DA2F2D}"/>
              </a:ext>
            </a:extLst>
          </p:cNvPr>
          <p:cNvSpPr>
            <a:spLocks noGrp="1"/>
          </p:cNvSpPr>
          <p:nvPr/>
        </p:nvSpPr>
        <p:spPr>
          <a:xfrm>
            <a:off x="4476750" y="1943100"/>
            <a:ext cx="323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95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做真实用户研究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9E19189D-180A-4851-A107-B19BEB1FDFBC}"/>
              </a:ext>
            </a:extLst>
          </p:cNvPr>
          <p:cNvSpPr>
            <a:spLocks noGrp="1"/>
          </p:cNvSpPr>
          <p:nvPr/>
        </p:nvSpPr>
        <p:spPr>
          <a:xfrm>
            <a:off x="4495800" y="3257550"/>
            <a:ext cx="32004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记录审核时间、覆盖率</a:t>
            </a:r>
          </a:p>
          <a:p>
            <a:pPr algn="ctr">
              <a:def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override、信任与可用性</a:t>
            </a:r>
          </a:p>
          <a:p>
            <a:pPr algn="ctr">
              <a:def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对比 Human Proxy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5F473EC1-E008-4EAF-B2A6-50A485D38B35}"/>
              </a:ext>
            </a:extLst>
          </p:cNvPr>
          <p:cNvSpPr>
            <a:spLocks noGrp="1"/>
          </p:cNvSpPr>
          <p:nvPr/>
        </p:nvSpPr>
        <p:spPr>
          <a:xfrm>
            <a:off x="4495800" y="4552950"/>
            <a:ext cx="320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门槛：质量不降且工作量下降</a:t>
            </a:r>
          </a:p>
        </p:txBody>
      </p:sp>
      <p:sp>
        <p:nvSpPr>
          <p:cNvPr id="16" name="box">
            <a:extLst>
              <a:ext uri="{FF2B5EF4-FFF2-40B4-BE49-F238E27FC236}">
                <a16:creationId xmlns:a16="http://schemas.microsoft.com/office/drawing/2014/main" id="{12A66820-1691-4BED-A2CF-15E424ACE63C}"/>
              </a:ext>
            </a:extLst>
          </p:cNvPr>
          <p:cNvSpPr>
            <a:spLocks noGrp="1"/>
          </p:cNvSpPr>
          <p:nvPr/>
        </p:nvSpPr>
        <p:spPr>
          <a:xfrm>
            <a:off x="10010775" y="2819400"/>
            <a:ext cx="171450" cy="171450"/>
          </a:xfrm>
          <a:prstGeom prst="rect">
            <a:avLst/>
          </a:prstGeom>
          <a:solidFill>
            <a:srgbClr val="0B0D10"/>
          </a:solidFill>
          <a:ln w="0">
            <a:noFill/>
            <a:prstDash val="solid"/>
          </a:ln>
        </p:spPr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01B635B2-1CE7-4866-855F-B3C728D62134}"/>
              </a:ext>
            </a:extLst>
          </p:cNvPr>
          <p:cNvSpPr>
            <a:spLocks noGrp="1"/>
          </p:cNvSpPr>
          <p:nvPr/>
        </p:nvSpPr>
        <p:spPr>
          <a:xfrm>
            <a:off x="8667750" y="15811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9D2"/>
                </a:solidFill>
                <a:latin typeface="Microsoft YaHei"/>
                <a:ea typeface="Microsoft YaHei"/>
                <a:cs typeface="Microsoft YaHei"/>
              </a:rPr>
              <a:t>论文收束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A7FBDCEA-E9D2-4E70-B1F8-C97A085B69F7}"/>
              </a:ext>
            </a:extLst>
          </p:cNvPr>
          <p:cNvSpPr>
            <a:spLocks noGrp="1"/>
          </p:cNvSpPr>
          <p:nvPr/>
        </p:nvSpPr>
        <p:spPr>
          <a:xfrm>
            <a:off x="8477250" y="1943100"/>
            <a:ext cx="323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95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强化图的独特任务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2BAF7858-5385-4CD3-8DBC-C1A823C923F2}"/>
              </a:ext>
            </a:extLst>
          </p:cNvPr>
          <p:cNvSpPr>
            <a:spLocks noGrp="1"/>
          </p:cNvSpPr>
          <p:nvPr/>
        </p:nvSpPr>
        <p:spPr>
          <a:xfrm>
            <a:off x="8496300" y="3257550"/>
            <a:ext cx="32004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增加多跳路径、桥接节点</a:t>
            </a:r>
          </a:p>
          <a:p>
            <a:pPr algn="ctr">
              <a:def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跨社区与反事实问题</a:t>
            </a:r>
          </a:p>
          <a:p>
            <a:pPr algn="ctr">
              <a:def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174"/>
                </a:solidFill>
                <a:latin typeface="Microsoft YaHei"/>
                <a:ea typeface="Microsoft YaHei"/>
                <a:cs typeface="Microsoft YaHei"/>
              </a:rPr>
              <a:t>补强同语料基线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253EC69A-CBD1-485A-B90C-73B64B5012A2}"/>
              </a:ext>
            </a:extLst>
          </p:cNvPr>
          <p:cNvSpPr>
            <a:spLocks noGrp="1"/>
          </p:cNvSpPr>
          <p:nvPr/>
        </p:nvSpPr>
        <p:spPr>
          <a:xfrm>
            <a:off x="8496300" y="4552950"/>
            <a:ext cx="320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目标：验证图结构的增量价值</a:t>
            </a:r>
          </a:p>
        </p:txBody>
      </p:sp>
      <p:sp>
        <p:nvSpPr>
          <p:cNvPr id="21" name="box">
            <a:extLst>
              <a:ext uri="{FF2B5EF4-FFF2-40B4-BE49-F238E27FC236}">
                <a16:creationId xmlns:a16="http://schemas.microsoft.com/office/drawing/2014/main" id="{B004042B-02BB-418B-86E0-691B422AEB9A}"/>
              </a:ext>
            </a:extLst>
          </p:cNvPr>
          <p:cNvSpPr>
            <a:spLocks noGrp="1"/>
          </p:cNvSpPr>
          <p:nvPr/>
        </p:nvSpPr>
        <p:spPr>
          <a:xfrm>
            <a:off x="495300" y="5562600"/>
            <a:ext cx="11029950" cy="628650"/>
          </a:xfrm>
          <a:prstGeom prst="rect">
            <a:avLst/>
          </a:prstGeom>
          <a:solidFill>
            <a:srgbClr val="0B0D10"/>
          </a:solidFill>
          <a:ln w="0">
            <a:noFill/>
            <a:prstDash val="solid"/>
          </a:ln>
        </p:spPr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05D1C2D6-14C4-4277-87B7-8D134BD545DB}"/>
              </a:ext>
            </a:extLst>
          </p:cNvPr>
          <p:cNvSpPr>
            <a:spLocks noGrp="1"/>
          </p:cNvSpPr>
          <p:nvPr/>
        </p:nvSpPr>
        <p:spPr>
          <a:xfrm>
            <a:off x="742950" y="573405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建议导师确认：优先级按 ①统计功效 → ②真实用户 → ③图任务扩展 推进</a:t>
            </a:r>
          </a:p>
        </p:txBody>
      </p:sp>
    </p:spTree>
    <p:extLst>
      <p:ext uri="{BB962C8B-B14F-4D97-AF65-F5344CB8AC3E}">
        <p14:creationId xmlns:p14="http://schemas.microsoft.com/office/powerpoint/2010/main" val="107520079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1272</Words>
  <Application>Microsoft Office PowerPoint</Application>
  <DocSecurity>0</DocSecurity>
  <PresentationFormat>宽屏</PresentationFormat>
  <Paragraphs>267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若渊 王</cp:lastModifiedBy>
  <cp:revision>1</cp:revision>
  <dcterms:created xsi:type="dcterms:W3CDTF">2026-08-17T08:22:11Z</dcterms:created>
  <dcterms:modified xsi:type="dcterms:W3CDTF">2026-08-17T09:34:02Z</dcterms:modified>
</cp:coreProperties>
</file>